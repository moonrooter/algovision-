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4" d="100"/>
          <a:sy n="204" d="100"/>
        </p:scale>
        <p:origin x="134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785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2681" y="1196263"/>
            <a:ext cx="4914900" cy="908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7802" y="3133522"/>
            <a:ext cx="22732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9334" y="174758"/>
            <a:ext cx="359949" cy="3599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378" y="819694"/>
            <a:ext cx="447484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dirty="0"/>
              <a:t>PROJECT-BASED</a:t>
            </a:r>
            <a:r>
              <a:rPr sz="2450" spc="100" dirty="0"/>
              <a:t> </a:t>
            </a:r>
            <a:r>
              <a:rPr sz="2450" spc="-10" dirty="0"/>
              <a:t>LEARNING</a:t>
            </a:r>
            <a:endParaRPr sz="2450"/>
          </a:p>
        </p:txBody>
      </p:sp>
      <p:sp>
        <p:nvSpPr>
          <p:cNvPr id="5" name="object 5"/>
          <p:cNvSpPr txBox="1"/>
          <p:nvPr/>
        </p:nvSpPr>
        <p:spPr>
          <a:xfrm>
            <a:off x="1835353" y="1195928"/>
            <a:ext cx="2089785" cy="9759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latin typeface="Trebuchet MS"/>
                <a:cs typeface="Trebuchet MS"/>
              </a:rPr>
              <a:t>PHASE-I</a:t>
            </a:r>
            <a:r>
              <a:rPr sz="1700" spc="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EVALUATION</a:t>
            </a: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sz="1400" b="1" spc="-20" dirty="0">
                <a:solidFill>
                  <a:srgbClr val="595959"/>
                </a:solidFill>
                <a:latin typeface="Arial"/>
                <a:cs typeface="Arial"/>
              </a:rPr>
              <a:t>Algo</a:t>
            </a:r>
            <a:r>
              <a:rPr sz="1400" b="1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Arial"/>
                <a:cs typeface="Arial"/>
              </a:rPr>
              <a:t>Vision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1100" spc="-30" dirty="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sz="1100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sz="1100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33768"/>
                </a:solidFill>
                <a:latin typeface="Tahoma"/>
                <a:cs typeface="Tahoma"/>
              </a:rPr>
              <a:t>T218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1257" y="2580702"/>
            <a:ext cx="3117215" cy="4927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latin typeface="Arial"/>
                <a:cs typeface="Arial"/>
              </a:rPr>
              <a:t>Department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Computer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55" dirty="0">
                <a:latin typeface="Arial"/>
                <a:cs typeface="Arial"/>
              </a:rPr>
              <a:t>Science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100" dirty="0">
                <a:latin typeface="Arial"/>
                <a:cs typeface="Arial"/>
              </a:rPr>
              <a:t>&amp;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Engineering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Graphic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Era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(Deemed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University), </a:t>
            </a:r>
            <a:r>
              <a:rPr sz="1100" spc="-10" dirty="0">
                <a:latin typeface="Tahoma"/>
                <a:cs typeface="Tahoma"/>
              </a:rPr>
              <a:t>Dehradun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800" spc="-10" dirty="0">
                <a:latin typeface="Arial MT"/>
                <a:cs typeface="Arial MT"/>
              </a:rPr>
              <a:t>Academic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Session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2026–</a:t>
            </a:r>
            <a:r>
              <a:rPr sz="800" spc="-25" dirty="0">
                <a:latin typeface="Arial MT"/>
                <a:cs typeface="Arial MT"/>
              </a:rPr>
              <a:t>27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Team</a:t>
            </a:r>
            <a:r>
              <a:rPr spc="170" dirty="0"/>
              <a:t> &amp;</a:t>
            </a:r>
            <a:r>
              <a:rPr spc="175" dirty="0"/>
              <a:t> </a:t>
            </a:r>
            <a:r>
              <a:rPr dirty="0"/>
              <a:t>Mentor</a:t>
            </a:r>
            <a:r>
              <a:rPr spc="17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93" y="1245209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224213"/>
            <a:ext cx="1129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133768"/>
                </a:solidFill>
                <a:latin typeface="Arial MT"/>
                <a:cs typeface="Arial MT"/>
              </a:rPr>
              <a:t>Information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420380"/>
            <a:ext cx="2520950" cy="802640"/>
            <a:chOff x="309193" y="1420380"/>
            <a:chExt cx="2520950" cy="8026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420380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64651"/>
              <a:ext cx="2520950" cy="758190"/>
            </a:xfrm>
            <a:custGeom>
              <a:avLst/>
              <a:gdLst/>
              <a:ahLst/>
              <a:cxnLst/>
              <a:rect l="l" t="t" r="r" b="b"/>
              <a:pathLst>
                <a:path w="2520950" h="758189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1459177"/>
            <a:ext cx="651510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dirty="0">
                <a:latin typeface="Arial"/>
                <a:cs typeface="Arial"/>
              </a:rPr>
              <a:t>Team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ID: </a:t>
            </a:r>
            <a:r>
              <a:rPr sz="1100" b="1" spc="-55" dirty="0">
                <a:latin typeface="Arial"/>
                <a:cs typeface="Arial"/>
              </a:rPr>
              <a:t>Semester: </a:t>
            </a:r>
            <a:r>
              <a:rPr sz="1100" b="1" spc="-10" dirty="0">
                <a:latin typeface="Arial"/>
                <a:cs typeface="Arial"/>
              </a:rPr>
              <a:t>Section: Domain: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839" y="1459177"/>
            <a:ext cx="1183005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T218</a:t>
            </a:r>
            <a:endParaRPr sz="1100">
              <a:latin typeface="Tahoma"/>
              <a:cs typeface="Tahoma"/>
            </a:endParaRPr>
          </a:p>
          <a:p>
            <a:pPr marL="12700" marR="454025">
              <a:lnSpc>
                <a:spcPct val="102600"/>
              </a:lnSpc>
            </a:pPr>
            <a:r>
              <a:rPr sz="1100" spc="-25" dirty="0">
                <a:latin typeface="Tahoma"/>
                <a:cs typeface="Tahoma"/>
              </a:rPr>
              <a:t>3rd Cyber,H,G,J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(DSA)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Visualization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0016" y="1245209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68117" y="1224213"/>
            <a:ext cx="98551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75" dirty="0">
                <a:solidFill>
                  <a:srgbClr val="133768"/>
                </a:solidFill>
                <a:latin typeface="Arial MT"/>
                <a:cs typeface="Arial MT"/>
              </a:rPr>
              <a:t>Members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30016" y="1420380"/>
            <a:ext cx="2520950" cy="727075"/>
            <a:chOff x="2930016" y="1420380"/>
            <a:chExt cx="2520950" cy="72707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420380"/>
              <a:ext cx="252081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0016" y="1464657"/>
              <a:ext cx="2520950" cy="682625"/>
            </a:xfrm>
            <a:custGeom>
              <a:avLst/>
              <a:gdLst/>
              <a:ahLst/>
              <a:cxnLst/>
              <a:rect l="l" t="t" r="r" b="b"/>
              <a:pathLst>
                <a:path w="2520950" h="682625">
                  <a:moveTo>
                    <a:pt x="2520810" y="0"/>
                  </a:moveTo>
                  <a:lnTo>
                    <a:pt x="0" y="0"/>
                  </a:lnTo>
                  <a:lnTo>
                    <a:pt x="0" y="631376"/>
                  </a:lnTo>
                  <a:lnTo>
                    <a:pt x="4008" y="651100"/>
                  </a:lnTo>
                  <a:lnTo>
                    <a:pt x="14922" y="667253"/>
                  </a:lnTo>
                  <a:lnTo>
                    <a:pt x="31075" y="678167"/>
                  </a:lnTo>
                  <a:lnTo>
                    <a:pt x="50800" y="682176"/>
                  </a:lnTo>
                  <a:lnTo>
                    <a:pt x="2470010" y="682176"/>
                  </a:lnTo>
                  <a:lnTo>
                    <a:pt x="2489735" y="678167"/>
                  </a:lnTo>
                  <a:lnTo>
                    <a:pt x="2505888" y="667253"/>
                  </a:lnTo>
                  <a:lnTo>
                    <a:pt x="2516802" y="651100"/>
                  </a:lnTo>
                  <a:lnTo>
                    <a:pt x="2520810" y="631376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68117" y="1434933"/>
            <a:ext cx="2328545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sz="1100" i="1" spc="-70" dirty="0">
                <a:solidFill>
                  <a:srgbClr val="595959"/>
                </a:solidFill>
                <a:latin typeface="Arial"/>
                <a:cs typeface="Arial"/>
              </a:rPr>
              <a:t>Abhishek–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2510012494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Chaitanya</a:t>
            </a:r>
            <a:r>
              <a:rPr sz="1100" i="1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Maithani–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2510011693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Chaitanya</a:t>
            </a:r>
            <a:r>
              <a:rPr sz="1100" i="1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Kharakhwal–2510010395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Arihant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595959"/>
                </a:solidFill>
                <a:latin typeface="Arial"/>
                <a:cs typeface="Arial"/>
              </a:rPr>
              <a:t>Rawat–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2510012102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193" y="2383268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47294" y="2362273"/>
            <a:ext cx="471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solidFill>
                  <a:srgbClr val="133768"/>
                </a:solidFill>
                <a:latin typeface="Arial MT"/>
                <a:cs typeface="Arial MT"/>
              </a:rPr>
              <a:t>Mentor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9193" y="2558427"/>
            <a:ext cx="5142230" cy="238125"/>
            <a:chOff x="309193" y="2558427"/>
            <a:chExt cx="5142230" cy="23812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58427"/>
              <a:ext cx="5141666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193" y="2602708"/>
              <a:ext cx="5142230" cy="193675"/>
            </a:xfrm>
            <a:custGeom>
              <a:avLst/>
              <a:gdLst/>
              <a:ahLst/>
              <a:cxnLst/>
              <a:rect l="l" t="t" r="r" b="b"/>
              <a:pathLst>
                <a:path w="5142230" h="193675">
                  <a:moveTo>
                    <a:pt x="5141666" y="0"/>
                  </a:moveTo>
                  <a:lnTo>
                    <a:pt x="0" y="0"/>
                  </a:lnTo>
                  <a:lnTo>
                    <a:pt x="0" y="142853"/>
                  </a:lnTo>
                  <a:lnTo>
                    <a:pt x="4008" y="162578"/>
                  </a:lnTo>
                  <a:lnTo>
                    <a:pt x="14922" y="178731"/>
                  </a:lnTo>
                  <a:lnTo>
                    <a:pt x="31075" y="189645"/>
                  </a:lnTo>
                  <a:lnTo>
                    <a:pt x="50800" y="193654"/>
                  </a:lnTo>
                  <a:lnTo>
                    <a:pt x="5090865" y="193654"/>
                  </a:lnTo>
                  <a:lnTo>
                    <a:pt x="5110590" y="189645"/>
                  </a:lnTo>
                  <a:lnTo>
                    <a:pt x="5126743" y="178731"/>
                  </a:lnTo>
                  <a:lnTo>
                    <a:pt x="5137657" y="162578"/>
                  </a:lnTo>
                  <a:lnTo>
                    <a:pt x="5141666" y="14285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7294" y="2572993"/>
            <a:ext cx="1287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Mr.</a:t>
            </a:r>
            <a:r>
              <a:rPr sz="1100" i="1" spc="1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Kuldeep</a:t>
            </a:r>
            <a:r>
              <a:rPr sz="1100" i="1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Nautiyal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</a:t>
            </a:fld>
            <a:r>
              <a:rPr spc="-10" dirty="0"/>
              <a:t>/10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401905" y="2572993"/>
            <a:ext cx="20427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29460" algn="l"/>
              </a:tabLst>
            </a:pPr>
            <a:r>
              <a:rPr sz="1100" b="1" spc="-25" dirty="0">
                <a:latin typeface="Arial"/>
                <a:cs typeface="Arial"/>
              </a:rPr>
              <a:t>Interactions</a:t>
            </a:r>
            <a:r>
              <a:rPr sz="1100" b="1" dirty="0">
                <a:latin typeface="Arial"/>
                <a:cs typeface="Arial"/>
              </a:rPr>
              <a:t> completed:</a:t>
            </a:r>
            <a:r>
              <a:rPr sz="1100" b="1" spc="165" dirty="0">
                <a:latin typeface="Arial"/>
                <a:cs typeface="Arial"/>
              </a:rPr>
              <a:t> </a:t>
            </a:r>
            <a:r>
              <a:rPr lang="en-US" sz="1100" b="1" spc="165" dirty="0">
                <a:latin typeface="Arial"/>
                <a:cs typeface="Arial"/>
              </a:rPr>
              <a:t>  3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spc="100" dirty="0"/>
              <a:t> </a:t>
            </a:r>
            <a:r>
              <a:rPr dirty="0"/>
              <a:t>Statement</a:t>
            </a:r>
            <a:r>
              <a:rPr spc="100" dirty="0"/>
              <a:t> </a:t>
            </a:r>
            <a:r>
              <a:rPr spc="170" dirty="0"/>
              <a:t>&amp;</a:t>
            </a:r>
            <a:r>
              <a:rPr spc="105" dirty="0"/>
              <a:t> </a:t>
            </a:r>
            <a:r>
              <a:rPr spc="-10" dirty="0"/>
              <a:t>Motivation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9193" y="977683"/>
            <a:ext cx="5142230" cy="584835"/>
            <a:chOff x="309193" y="977683"/>
            <a:chExt cx="5142230" cy="584835"/>
          </a:xfrm>
        </p:grpSpPr>
        <p:sp>
          <p:nvSpPr>
            <p:cNvPr id="5" name="object 5"/>
            <p:cNvSpPr/>
            <p:nvPr/>
          </p:nvSpPr>
          <p:spPr>
            <a:xfrm>
              <a:off x="309193" y="977683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152855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197138"/>
              <a:ext cx="5142230" cy="365125"/>
            </a:xfrm>
            <a:custGeom>
              <a:avLst/>
              <a:gdLst/>
              <a:ahLst/>
              <a:cxnLst/>
              <a:rect l="l" t="t" r="r" b="b"/>
              <a:pathLst>
                <a:path w="5142230" h="365125">
                  <a:moveTo>
                    <a:pt x="5141666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090865" y="364962"/>
                  </a:lnTo>
                  <a:lnTo>
                    <a:pt x="5110590" y="360953"/>
                  </a:lnTo>
                  <a:lnTo>
                    <a:pt x="5126743" y="350039"/>
                  </a:lnTo>
                  <a:lnTo>
                    <a:pt x="5137657" y="333886"/>
                  </a:lnTo>
                  <a:lnTo>
                    <a:pt x="5141666" y="31416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7294" y="925443"/>
            <a:ext cx="4622165" cy="6057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spc="-60" dirty="0">
                <a:solidFill>
                  <a:srgbClr val="133768"/>
                </a:solidFill>
                <a:latin typeface="Arial MT"/>
                <a:cs typeface="Arial MT"/>
              </a:rPr>
              <a:t>Problem</a:t>
            </a:r>
            <a:r>
              <a:rPr sz="1200" spc="3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Arial MT"/>
                <a:cs typeface="Arial MT"/>
              </a:rPr>
              <a:t>Statement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Beginners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often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find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difficult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understand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through </a:t>
            </a: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595959"/>
                </a:solidFill>
                <a:latin typeface="Arial"/>
                <a:cs typeface="Arial"/>
              </a:rPr>
              <a:t>alone,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especially </a:t>
            </a: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concepts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595959"/>
                </a:solidFill>
                <a:latin typeface="Arial"/>
                <a:cs typeface="Arial"/>
              </a:rPr>
              <a:t>pointers,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memory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changes.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10" dirty="0"/>
              <a:t>/10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1894" y="1658389"/>
            <a:ext cx="2496185" cy="15290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Motivation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1" spc="-10" dirty="0">
                <a:solidFill>
                  <a:srgbClr val="595959"/>
                </a:solidFill>
                <a:latin typeface="Arial"/>
                <a:cs typeface="Arial"/>
              </a:rPr>
              <a:t>Current</a:t>
            </a:r>
            <a:r>
              <a:rPr sz="11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595959"/>
                </a:solidFill>
                <a:latin typeface="Arial"/>
                <a:cs typeface="Arial"/>
              </a:rPr>
              <a:t>gap:</a:t>
            </a:r>
            <a:r>
              <a:rPr sz="1100" b="1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Learning,</a:t>
            </a:r>
            <a:r>
              <a:rPr sz="1100" i="1" spc="-30" dirty="0">
                <a:solidFill>
                  <a:srgbClr val="595959"/>
                </a:solidFill>
                <a:latin typeface="Arial"/>
                <a:cs typeface="Arial"/>
              </a:rPr>
              <a:t> visualization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practice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available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separately.</a:t>
            </a:r>
            <a:endParaRPr sz="1100">
              <a:latin typeface="Arial"/>
              <a:cs typeface="Arial"/>
            </a:endParaRPr>
          </a:p>
          <a:p>
            <a:pPr marL="314960" marR="3175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1" dirty="0">
                <a:solidFill>
                  <a:srgbClr val="595959"/>
                </a:solidFill>
                <a:latin typeface="Arial"/>
                <a:cs typeface="Arial"/>
              </a:rPr>
              <a:t>Impact:</a:t>
            </a:r>
            <a:r>
              <a:rPr sz="1100" b="1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Beginners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struggle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understand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 DSA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595959"/>
                </a:solidFill>
                <a:latin typeface="Arial"/>
                <a:cs typeface="Arial"/>
              </a:rPr>
              <a:t>work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internally.</a:t>
            </a:r>
            <a:endParaRPr sz="1100">
              <a:latin typeface="Arial"/>
              <a:cs typeface="Arial"/>
            </a:endParaRPr>
          </a:p>
          <a:p>
            <a:pPr marL="314960" marR="4191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1" spc="-40" dirty="0">
                <a:solidFill>
                  <a:srgbClr val="595959"/>
                </a:solidFill>
                <a:latin typeface="Arial"/>
                <a:cs typeface="Arial"/>
              </a:rPr>
              <a:t>Existing</a:t>
            </a:r>
            <a:r>
              <a:rPr sz="1100" b="1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595959"/>
                </a:solidFill>
                <a:latin typeface="Arial"/>
                <a:cs typeface="Arial"/>
              </a:rPr>
              <a:t>limitation:</a:t>
            </a:r>
            <a:r>
              <a:rPr sz="1100" b="1" spc="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Most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595959"/>
                </a:solidFill>
                <a:latin typeface="Arial"/>
                <a:cs typeface="Arial"/>
              </a:rPr>
              <a:t>platforms 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focus</a:t>
            </a:r>
            <a:r>
              <a:rPr sz="1100" i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mainly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595959"/>
                </a:solidFill>
                <a:latin typeface="Arial"/>
                <a:cs typeface="Arial"/>
              </a:rPr>
              <a:t>theory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coding practice.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2717" y="1666085"/>
            <a:ext cx="2433955" cy="15290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Target</a:t>
            </a:r>
            <a:r>
              <a:rPr sz="1100" b="1" spc="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133768"/>
                </a:solidFill>
                <a:latin typeface="Arial"/>
                <a:cs typeface="Arial"/>
              </a:rPr>
              <a:t>Users</a:t>
            </a:r>
            <a:r>
              <a:rPr sz="1100" b="1" spc="3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300" dirty="0">
                <a:solidFill>
                  <a:srgbClr val="133768"/>
                </a:solidFill>
                <a:latin typeface="Arial"/>
                <a:cs typeface="Arial"/>
              </a:rPr>
              <a:t>/</a:t>
            </a:r>
            <a:r>
              <a:rPr sz="1100" b="1" spc="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Stakeholders</a:t>
            </a:r>
            <a:endParaRPr sz="1100">
              <a:latin typeface="Arial"/>
              <a:cs typeface="Arial"/>
            </a:endParaRPr>
          </a:p>
          <a:p>
            <a:pPr marL="314960" marR="90805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1" spc="-20" dirty="0">
                <a:solidFill>
                  <a:srgbClr val="595959"/>
                </a:solidFill>
                <a:latin typeface="Arial"/>
                <a:cs typeface="Arial"/>
              </a:rPr>
              <a:t>Primary</a:t>
            </a:r>
            <a:r>
              <a:rPr sz="1100" b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595959"/>
                </a:solidFill>
                <a:latin typeface="Arial"/>
                <a:cs typeface="Arial"/>
              </a:rPr>
              <a:t>users:</a:t>
            </a:r>
            <a:r>
              <a:rPr sz="1100" b="1" spc="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595959"/>
                </a:solidFill>
                <a:latin typeface="Arial"/>
                <a:cs typeface="Arial"/>
              </a:rPr>
              <a:t>students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beginners.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1" spc="-60" dirty="0">
                <a:solidFill>
                  <a:srgbClr val="595959"/>
                </a:solidFill>
                <a:latin typeface="Arial"/>
                <a:cs typeface="Arial"/>
              </a:rPr>
              <a:t>Secondary</a:t>
            </a:r>
            <a:r>
              <a:rPr sz="1100" b="1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595959"/>
                </a:solidFill>
                <a:latin typeface="Arial"/>
                <a:cs typeface="Arial"/>
              </a:rPr>
              <a:t>stakeholders:</a:t>
            </a:r>
            <a:r>
              <a:rPr sz="1100" b="1" spc="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595959"/>
                </a:solidFill>
                <a:latin typeface="Arial"/>
                <a:cs typeface="Arial"/>
              </a:rPr>
              <a:t>Teachers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colleges.</a:t>
            </a:r>
            <a:endParaRPr sz="1100">
              <a:latin typeface="Arial"/>
              <a:cs typeface="Arial"/>
            </a:endParaRPr>
          </a:p>
          <a:p>
            <a:pPr marL="314960" marR="9271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1" spc="-35" dirty="0">
                <a:solidFill>
                  <a:srgbClr val="595959"/>
                </a:solidFill>
                <a:latin typeface="Arial"/>
                <a:cs typeface="Arial"/>
              </a:rPr>
              <a:t>Expected</a:t>
            </a:r>
            <a:r>
              <a:rPr sz="1100" b="1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595959"/>
                </a:solidFill>
                <a:latin typeface="Arial"/>
                <a:cs typeface="Arial"/>
              </a:rPr>
              <a:t>benefit:</a:t>
            </a:r>
            <a:r>
              <a:rPr sz="1100" b="1" spc="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70" dirty="0">
                <a:solidFill>
                  <a:srgbClr val="595959"/>
                </a:solidFill>
                <a:latin typeface="Arial"/>
                <a:cs typeface="Arial"/>
              </a:rPr>
              <a:t>Easier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learning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through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step-</a:t>
            </a: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by-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step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visualization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practice.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8890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941005"/>
            <a:ext cx="3579495" cy="14154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133768"/>
                </a:solidFill>
                <a:latin typeface="Arial"/>
                <a:cs typeface="Arial"/>
              </a:rPr>
              <a:t>Project</a:t>
            </a:r>
            <a:r>
              <a:rPr sz="1100" b="1" spc="-2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Objectives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90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Create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70" dirty="0">
                <a:solidFill>
                  <a:srgbClr val="595959"/>
                </a:solidFill>
                <a:latin typeface="Arial"/>
                <a:cs typeface="Arial"/>
              </a:rPr>
              <a:t>easy-</a:t>
            </a: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to-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platform.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5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Explain</a:t>
            </a:r>
            <a:r>
              <a:rPr sz="1100" i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sz="1100" i="1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concepts</a:t>
            </a:r>
            <a:r>
              <a:rPr sz="1100" i="1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100" i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100" dirty="0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sz="1100" i="1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examples.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53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Visualize</a:t>
            </a:r>
            <a:r>
              <a:rPr sz="1100" i="1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operations</a:t>
            </a:r>
            <a:r>
              <a:rPr sz="1100" i="1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step-</a:t>
            </a: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by-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step.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5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40" dirty="0">
                <a:solidFill>
                  <a:srgbClr val="595959"/>
                </a:solidFill>
                <a:latin typeface="Arial"/>
                <a:cs typeface="Arial"/>
              </a:rPr>
              <a:t>Provide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 practice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questions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sz="1100" i="1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topics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difficulty.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53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Track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student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595959"/>
                </a:solidFill>
                <a:latin typeface="Arial"/>
                <a:cs typeface="Arial"/>
              </a:rPr>
              <a:t>progress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locally.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6033" y="2525496"/>
            <a:ext cx="4108450" cy="371475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1275"/>
              </a:lnSpc>
            </a:pPr>
            <a:r>
              <a:rPr sz="1100" b="1" dirty="0">
                <a:latin typeface="Arial"/>
                <a:cs typeface="Arial"/>
              </a:rPr>
              <a:t>Key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Objective:</a:t>
            </a:r>
            <a:r>
              <a:rPr sz="1100" b="1" spc="95" dirty="0"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Make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595959"/>
                </a:solidFill>
                <a:latin typeface="Arial"/>
                <a:cs typeface="Arial"/>
              </a:rPr>
              <a:t>easier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to 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learn,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understand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practice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through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interactive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visualization.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Proposed</a:t>
            </a:r>
            <a:r>
              <a:rPr spc="25" dirty="0"/>
              <a:t> </a:t>
            </a:r>
            <a:r>
              <a:rPr spc="-25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1119477"/>
            <a:ext cx="2284730" cy="1285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50" dirty="0">
                <a:solidFill>
                  <a:srgbClr val="133768"/>
                </a:solidFill>
                <a:latin typeface="Arial"/>
                <a:cs typeface="Arial"/>
              </a:rPr>
              <a:t>Proposed</a:t>
            </a:r>
            <a:r>
              <a:rPr sz="1100" b="1" spc="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Approach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Select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Topic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Learn</a:t>
            </a:r>
            <a:r>
              <a:rPr sz="1100" i="1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595959"/>
                </a:solidFill>
                <a:latin typeface="Arial"/>
                <a:cs typeface="Arial"/>
              </a:rPr>
              <a:t>Concepts</a:t>
            </a:r>
            <a:r>
              <a:rPr sz="1100" i="1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85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1100" i="1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100" dirty="0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sz="1100" i="1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Examples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Visualize</a:t>
            </a:r>
            <a:r>
              <a:rPr sz="1100" i="1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Operationsc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Practice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Questions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Track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Progress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5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42717" y="1119477"/>
            <a:ext cx="1878964" cy="1285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33768"/>
                </a:solidFill>
                <a:latin typeface="Arial"/>
                <a:cs typeface="Arial"/>
              </a:rPr>
              <a:t>Key</a:t>
            </a:r>
            <a:r>
              <a:rPr sz="1100" b="1" spc="-1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Features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Interactive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learning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Step-</a:t>
            </a:r>
            <a:r>
              <a:rPr sz="1100" i="1" spc="-65" dirty="0">
                <a:solidFill>
                  <a:srgbClr val="595959"/>
                </a:solidFill>
                <a:latin typeface="Arial"/>
                <a:cs typeface="Arial"/>
              </a:rPr>
              <a:t>by-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step</a:t>
            </a:r>
            <a:r>
              <a:rPr sz="1100" i="1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595959"/>
                </a:solidFill>
                <a:latin typeface="Arial"/>
                <a:cs typeface="Arial"/>
              </a:rPr>
              <a:t>visualizations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100" dirty="0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sz="1100" i="1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examples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Topic-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wise</a:t>
            </a:r>
            <a:r>
              <a:rPr sz="1100" i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practice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Local</a:t>
            </a:r>
            <a:r>
              <a:rPr sz="1100" i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595959"/>
                </a:solidFill>
                <a:latin typeface="Arial"/>
                <a:cs typeface="Arial"/>
              </a:rPr>
              <a:t>progress</a:t>
            </a:r>
            <a:r>
              <a:rPr sz="1100" i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tracking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595484"/>
            <a:ext cx="36639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8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solution</a:t>
            </a:r>
            <a:r>
              <a:rPr sz="8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595959"/>
                </a:solidFill>
                <a:latin typeface="Arial MT"/>
                <a:cs typeface="Arial MT"/>
              </a:rPr>
              <a:t>combines</a:t>
            </a:r>
            <a:r>
              <a:rPr sz="8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DSA</a:t>
            </a:r>
            <a:r>
              <a:rPr sz="8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learning,</a:t>
            </a:r>
            <a:r>
              <a:rPr sz="8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visualization,</a:t>
            </a:r>
            <a:r>
              <a:rPr sz="8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8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practice</a:t>
            </a:r>
            <a:r>
              <a:rPr sz="8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8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one</a:t>
            </a:r>
            <a:r>
              <a:rPr sz="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platform.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Integration</a:t>
            </a:r>
            <a:r>
              <a:rPr spc="105" dirty="0"/>
              <a:t> </a:t>
            </a:r>
            <a:r>
              <a:rPr dirty="0"/>
              <a:t>of</a:t>
            </a:r>
            <a:r>
              <a:rPr spc="105" dirty="0"/>
              <a:t> </a:t>
            </a:r>
            <a:r>
              <a:rPr dirty="0"/>
              <a:t>PBL</a:t>
            </a:r>
            <a:r>
              <a:rPr spc="105" dirty="0"/>
              <a:t> </a:t>
            </a:r>
            <a:r>
              <a:rPr spc="-40" dirty="0"/>
              <a:t>Course</a:t>
            </a:r>
            <a:r>
              <a:rPr spc="110" dirty="0"/>
              <a:t> </a:t>
            </a:r>
            <a:r>
              <a:rPr spc="-30" dirty="0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899973"/>
              </p:ext>
            </p:extLst>
          </p:nvPr>
        </p:nvGraphicFramePr>
        <p:xfrm>
          <a:off x="460781" y="1196263"/>
          <a:ext cx="4837429" cy="908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5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Course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20" dirty="0">
                          <a:latin typeface="Arial MT"/>
                          <a:cs typeface="Arial MT"/>
                        </a:rPr>
                        <a:t>Concepts</a:t>
                      </a:r>
                      <a:r>
                        <a:rPr sz="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Applied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213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800" spc="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Module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b="1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Structures</a:t>
                      </a:r>
                      <a:r>
                        <a:rPr sz="800" b="1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800" b="1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0" dirty="0">
                          <a:latin typeface="Arial"/>
                          <a:cs typeface="Arial"/>
                        </a:rPr>
                        <a:t>C</a:t>
                      </a:r>
                      <a:r>
                        <a:rPr lang="en-US" sz="800" b="1" spc="-50" dirty="0">
                          <a:latin typeface="Arial"/>
                          <a:cs typeface="Arial"/>
                        </a:rPr>
                        <a:t>++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rrays,</a:t>
                      </a: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Linked Lists,</a:t>
                      </a:r>
                      <a:r>
                        <a:rPr sz="800" i="1" spc="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Stacks,</a:t>
                      </a: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Queues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2135" indent="-635">
                        <a:lnSpc>
                          <a:spcPts val="950"/>
                        </a:lnSpc>
                        <a:spcBef>
                          <a:spcPts val="409"/>
                        </a:spcBef>
                      </a:pP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DSA</a:t>
                      </a:r>
                      <a:r>
                        <a:rPr sz="800" i="1" spc="2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Visualization </a:t>
                      </a:r>
                      <a:r>
                        <a:rPr sz="800" i="1" spc="1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800" i="1" spc="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Practice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Web</a:t>
                      </a:r>
                      <a:r>
                        <a:rPr sz="800" b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Development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HTML,</a:t>
                      </a:r>
                      <a:r>
                        <a:rPr sz="800" i="1" spc="7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CSS,</a:t>
                      </a:r>
                      <a:r>
                        <a:rPr sz="800" i="1" spc="7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JavaScript,</a:t>
                      </a:r>
                      <a:r>
                        <a:rPr sz="800" i="1" spc="7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DOM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2135" indent="-635">
                        <a:lnSpc>
                          <a:spcPts val="950"/>
                        </a:lnSpc>
                        <a:spcBef>
                          <a:spcPts val="409"/>
                        </a:spcBef>
                      </a:pP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Learning</a:t>
                      </a:r>
                      <a:r>
                        <a:rPr sz="800" i="1" spc="1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800" i="1" spc="1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Visual-</a:t>
                      </a: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ization</a:t>
                      </a:r>
                      <a:r>
                        <a:rPr sz="800" i="1" spc="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InterfaceY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839" y="2514714"/>
            <a:ext cx="4410710" cy="166370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6350" rIns="0" bIns="0" rtlCol="0">
            <a:spAutoFit/>
          </a:bodyPr>
          <a:lstStyle/>
          <a:p>
            <a:pPr marL="337820">
              <a:lnSpc>
                <a:spcPct val="100000"/>
              </a:lnSpc>
              <a:spcBef>
                <a:spcPts val="50"/>
              </a:spcBef>
            </a:pPr>
            <a:r>
              <a:rPr sz="800" b="1" spc="-20" dirty="0">
                <a:latin typeface="Arial"/>
                <a:cs typeface="Arial"/>
              </a:rPr>
              <a:t>Requirement:</a:t>
            </a:r>
            <a:r>
              <a:rPr sz="800" b="1" spc="120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Demonstrate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meaningful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integration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both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subjects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b="1" spc="-20" dirty="0">
                <a:latin typeface="Arial"/>
                <a:cs typeface="Arial"/>
              </a:rPr>
              <a:t>one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 MT"/>
                <a:cs typeface="Arial MT"/>
              </a:rPr>
              <a:t>project.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System</a:t>
            </a:r>
            <a:r>
              <a:rPr spc="35" dirty="0"/>
              <a:t> </a:t>
            </a:r>
            <a:r>
              <a:rPr dirty="0"/>
              <a:t>Architecture</a:t>
            </a:r>
            <a:r>
              <a:rPr spc="40" dirty="0"/>
              <a:t> </a:t>
            </a:r>
            <a:r>
              <a:rPr spc="395" dirty="0"/>
              <a:t>/</a:t>
            </a:r>
            <a:r>
              <a:rPr spc="40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28336" y="1020720"/>
            <a:ext cx="779145" cy="368935"/>
            <a:chOff x="428336" y="1020720"/>
            <a:chExt cx="779145" cy="368935"/>
          </a:xfrm>
        </p:grpSpPr>
        <p:sp>
          <p:nvSpPr>
            <p:cNvPr id="5" name="object 5"/>
            <p:cNvSpPr/>
            <p:nvPr/>
          </p:nvSpPr>
          <p:spPr>
            <a:xfrm>
              <a:off x="430876" y="1023260"/>
              <a:ext cx="774065" cy="363855"/>
            </a:xfrm>
            <a:custGeom>
              <a:avLst/>
              <a:gdLst/>
              <a:ahLst/>
              <a:cxnLst/>
              <a:rect l="l" t="t" r="r" b="b"/>
              <a:pathLst>
                <a:path w="774065" h="36385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23396" y="363685"/>
                  </a:lnTo>
                  <a:lnTo>
                    <a:pt x="743096" y="359707"/>
                  </a:lnTo>
                  <a:lnTo>
                    <a:pt x="759183" y="348861"/>
                  </a:lnTo>
                  <a:lnTo>
                    <a:pt x="770030" y="332774"/>
                  </a:lnTo>
                  <a:lnTo>
                    <a:pt x="774007" y="313074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0876" y="1023260"/>
              <a:ext cx="774065" cy="363855"/>
            </a:xfrm>
            <a:custGeom>
              <a:avLst/>
              <a:gdLst/>
              <a:ahLst/>
              <a:cxnLst/>
              <a:rect l="l" t="t" r="r" b="b"/>
              <a:pathLst>
                <a:path w="774065" h="36385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23396" y="363685"/>
                  </a:lnTo>
                  <a:lnTo>
                    <a:pt x="743096" y="359707"/>
                  </a:lnTo>
                  <a:lnTo>
                    <a:pt x="759183" y="348861"/>
                  </a:lnTo>
                  <a:lnTo>
                    <a:pt x="770030" y="332774"/>
                  </a:lnTo>
                  <a:lnTo>
                    <a:pt x="774007" y="313074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6732" y="1018075"/>
            <a:ext cx="58293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9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Input User/Data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59407" y="1024234"/>
            <a:ext cx="779145" cy="361950"/>
            <a:chOff x="1459407" y="1024234"/>
            <a:chExt cx="779145" cy="361950"/>
          </a:xfrm>
        </p:grpSpPr>
        <p:sp>
          <p:nvSpPr>
            <p:cNvPr id="9" name="object 9"/>
            <p:cNvSpPr/>
            <p:nvPr/>
          </p:nvSpPr>
          <p:spPr>
            <a:xfrm>
              <a:off x="1461947" y="1026774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7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7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1947" y="1026774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7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7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56651" y="1021593"/>
            <a:ext cx="5842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765" marR="5080" indent="-139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latin typeface="Tahoma"/>
                <a:cs typeface="Tahoma"/>
              </a:rPr>
              <a:t>Processing </a:t>
            </a:r>
            <a:r>
              <a:rPr sz="1000" spc="-10" dirty="0">
                <a:latin typeface="Tahoma"/>
                <a:cs typeface="Tahoma"/>
              </a:rPr>
              <a:t>Layer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90479" y="1024234"/>
            <a:ext cx="779145" cy="361950"/>
            <a:chOff x="2490479" y="1024234"/>
            <a:chExt cx="779145" cy="361950"/>
          </a:xfrm>
        </p:grpSpPr>
        <p:sp>
          <p:nvSpPr>
            <p:cNvPr id="13" name="object 13"/>
            <p:cNvSpPr/>
            <p:nvPr/>
          </p:nvSpPr>
          <p:spPr>
            <a:xfrm>
              <a:off x="2493019" y="1026774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93019" y="1026774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26537" y="1021593"/>
            <a:ext cx="3073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032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Core </a:t>
            </a:r>
            <a:r>
              <a:rPr sz="1000" spc="-25" dirty="0">
                <a:latin typeface="Tahoma"/>
                <a:cs typeface="Tahoma"/>
              </a:rPr>
              <a:t>Logic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21551" y="1024234"/>
            <a:ext cx="779145" cy="361950"/>
            <a:chOff x="3521551" y="1024234"/>
            <a:chExt cx="779145" cy="361950"/>
          </a:xfrm>
        </p:grpSpPr>
        <p:sp>
          <p:nvSpPr>
            <p:cNvPr id="17" name="object 17"/>
            <p:cNvSpPr/>
            <p:nvPr/>
          </p:nvSpPr>
          <p:spPr>
            <a:xfrm>
              <a:off x="3524091" y="1026774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24091" y="1026774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53561" y="1021593"/>
            <a:ext cx="514984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6839" marR="5080" indent="-104775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latin typeface="Tahoma"/>
                <a:cs typeface="Tahoma"/>
              </a:rPr>
              <a:t>Database </a:t>
            </a:r>
            <a:r>
              <a:rPr sz="1000" spc="-20" dirty="0">
                <a:latin typeface="Tahoma"/>
                <a:cs typeface="Tahoma"/>
              </a:rPr>
              <a:t>Layer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52623" y="1036536"/>
            <a:ext cx="779145" cy="337185"/>
            <a:chOff x="4552623" y="1036536"/>
            <a:chExt cx="779145" cy="337185"/>
          </a:xfrm>
        </p:grpSpPr>
        <p:sp>
          <p:nvSpPr>
            <p:cNvPr id="21" name="object 21"/>
            <p:cNvSpPr/>
            <p:nvPr/>
          </p:nvSpPr>
          <p:spPr>
            <a:xfrm>
              <a:off x="4555163" y="1039076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55163" y="1039076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39106" y="1033886"/>
            <a:ext cx="406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735" marR="5080" indent="-2667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Output </a:t>
            </a:r>
            <a:r>
              <a:rPr sz="1000" spc="-10" dirty="0">
                <a:latin typeface="Tahoma"/>
                <a:cs typeface="Tahoma"/>
              </a:rPr>
              <a:t>Result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07414" y="1181853"/>
            <a:ext cx="3329940" cy="46990"/>
            <a:chOff x="1207414" y="1181853"/>
            <a:chExt cx="3329940" cy="46990"/>
          </a:xfrm>
        </p:grpSpPr>
        <p:sp>
          <p:nvSpPr>
            <p:cNvPr id="25" name="object 25"/>
            <p:cNvSpPr/>
            <p:nvPr/>
          </p:nvSpPr>
          <p:spPr>
            <a:xfrm>
              <a:off x="1207414" y="1205102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92477" y="1186914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92477" y="1186914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38486" y="1205102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23549" y="1186914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23549" y="1186914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69557" y="1205102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54621" y="1186914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54621" y="1186914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300629" y="1205102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85692" y="1186914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85692" y="1186914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21894" y="1687510"/>
            <a:ext cx="2254885" cy="8407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33768"/>
                </a:solidFill>
                <a:latin typeface="Arial"/>
                <a:cs typeface="Arial"/>
              </a:rPr>
              <a:t>Major</a:t>
            </a:r>
            <a:r>
              <a:rPr sz="1100" b="1" spc="8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Components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User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Interface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r>
              <a:rPr sz="1100" i="1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85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1100" i="1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595959"/>
                </a:solidFill>
                <a:latin typeface="Arial"/>
                <a:cs typeface="Arial"/>
              </a:rPr>
              <a:t>Visualization</a:t>
            </a:r>
            <a:r>
              <a:rPr sz="1100" i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Practice</a:t>
            </a:r>
            <a:r>
              <a:rPr sz="1100" i="1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85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1100" i="1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595959"/>
                </a:solidFill>
                <a:latin typeface="Arial"/>
                <a:cs typeface="Arial"/>
              </a:rPr>
              <a:t>Progress</a:t>
            </a:r>
            <a:r>
              <a:rPr sz="1100" i="1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10" dirty="0"/>
              <a:t>/10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942717" y="1695206"/>
            <a:ext cx="2427605" cy="13569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33768"/>
                </a:solidFill>
                <a:latin typeface="Arial"/>
                <a:cs typeface="Arial"/>
              </a:rPr>
              <a:t>Data</a:t>
            </a:r>
            <a:r>
              <a:rPr sz="1100" b="1" spc="7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300" dirty="0">
                <a:solidFill>
                  <a:srgbClr val="133768"/>
                </a:solidFill>
                <a:latin typeface="Arial"/>
                <a:cs typeface="Arial"/>
              </a:rPr>
              <a:t>/</a:t>
            </a:r>
            <a:r>
              <a:rPr sz="1100" b="1" spc="7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33768"/>
                </a:solidFill>
                <a:latin typeface="Arial"/>
                <a:cs typeface="Arial"/>
              </a:rPr>
              <a:t>Control</a:t>
            </a:r>
            <a:r>
              <a:rPr sz="1100" b="1" spc="8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33768"/>
                </a:solidFill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  <a:p>
            <a:pPr marL="314960" marR="50800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User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595959"/>
                </a:solidFill>
                <a:latin typeface="Arial"/>
                <a:cs typeface="Arial"/>
              </a:rPr>
              <a:t>selects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topic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 or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operation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displays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concepts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visual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steps</a:t>
            </a:r>
            <a:endParaRPr sz="1100">
              <a:latin typeface="Arial"/>
              <a:cs typeface="Arial"/>
            </a:endParaRPr>
          </a:p>
          <a:p>
            <a:pPr marL="314960" marR="461009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60" dirty="0">
                <a:solidFill>
                  <a:srgbClr val="595959"/>
                </a:solidFill>
                <a:latin typeface="Arial"/>
                <a:cs typeface="Arial"/>
              </a:rPr>
              <a:t>User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practices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questions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100" i="1" spc="-75" dirty="0">
                <a:solidFill>
                  <a:srgbClr val="595959"/>
                </a:solidFill>
                <a:latin typeface="Arial"/>
                <a:cs typeface="Arial"/>
              </a:rPr>
              <a:t>progress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saved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Technology</a:t>
            </a:r>
            <a:r>
              <a:rPr spc="70" dirty="0"/>
              <a:t> </a:t>
            </a:r>
            <a:r>
              <a:rPr dirty="0"/>
              <a:t>Stack</a:t>
            </a:r>
            <a:r>
              <a:rPr spc="70" dirty="0"/>
              <a:t> </a:t>
            </a:r>
            <a:r>
              <a:rPr spc="170" dirty="0"/>
              <a:t>&amp;</a:t>
            </a:r>
            <a:r>
              <a:rPr spc="70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93" y="1106245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085250"/>
            <a:ext cx="11207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5" dirty="0">
                <a:solidFill>
                  <a:srgbClr val="133768"/>
                </a:solidFill>
                <a:latin typeface="Arial MT"/>
                <a:cs typeface="Arial MT"/>
              </a:rPr>
              <a:t>Technology</a:t>
            </a:r>
            <a:r>
              <a:rPr sz="1200" spc="1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133768"/>
                </a:solidFill>
                <a:latin typeface="Arial MT"/>
                <a:cs typeface="Arial MT"/>
              </a:rPr>
              <a:t>Stack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291958"/>
            <a:ext cx="2520950" cy="1214755"/>
            <a:chOff x="309193" y="1291958"/>
            <a:chExt cx="2520950" cy="12147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291958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336230"/>
              <a:ext cx="2520950" cy="1170305"/>
            </a:xfrm>
            <a:custGeom>
              <a:avLst/>
              <a:gdLst/>
              <a:ahLst/>
              <a:cxnLst/>
              <a:rect l="l" t="t" r="r" b="b"/>
              <a:pathLst>
                <a:path w="2520950" h="1170305">
                  <a:moveTo>
                    <a:pt x="2520810" y="0"/>
                  </a:moveTo>
                  <a:lnTo>
                    <a:pt x="0" y="0"/>
                  </a:lnTo>
                  <a:lnTo>
                    <a:pt x="0" y="1119085"/>
                  </a:lnTo>
                  <a:lnTo>
                    <a:pt x="4008" y="1138810"/>
                  </a:lnTo>
                  <a:lnTo>
                    <a:pt x="14922" y="1154963"/>
                  </a:lnTo>
                  <a:lnTo>
                    <a:pt x="31075" y="1165877"/>
                  </a:lnTo>
                  <a:lnTo>
                    <a:pt x="50800" y="1169885"/>
                  </a:lnTo>
                  <a:lnTo>
                    <a:pt x="2470010" y="1169885"/>
                  </a:lnTo>
                  <a:lnTo>
                    <a:pt x="2489735" y="1165877"/>
                  </a:lnTo>
                  <a:lnTo>
                    <a:pt x="2505888" y="1154963"/>
                  </a:lnTo>
                  <a:lnTo>
                    <a:pt x="2516802" y="1138810"/>
                  </a:lnTo>
                  <a:lnTo>
                    <a:pt x="2520810" y="1119085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1957" y="1283103"/>
            <a:ext cx="2251075" cy="118491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5" dirty="0">
                <a:latin typeface="Tahoma"/>
                <a:cs typeface="Tahoma"/>
              </a:rPr>
              <a:t>Programming: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i="1" spc="100" dirty="0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sz="1100" i="1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endParaRPr sz="1100" dirty="0">
              <a:latin typeface="Arial"/>
              <a:cs typeface="Arial"/>
            </a:endParaRPr>
          </a:p>
          <a:p>
            <a:pPr marL="214629" marR="48260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30" dirty="0">
                <a:latin typeface="Tahoma"/>
                <a:cs typeface="Tahoma"/>
              </a:rPr>
              <a:t>Database: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r>
              <a:rPr sz="1100" i="1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240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100" i="1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30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r>
              <a:rPr sz="1100" i="1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180" dirty="0">
                <a:solidFill>
                  <a:srgbClr val="595959"/>
                </a:solidFill>
                <a:latin typeface="Arial"/>
                <a:cs typeface="Arial"/>
              </a:rPr>
              <a:t>/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endParaRPr sz="1100" dirty="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10" dirty="0">
                <a:latin typeface="Tahoma"/>
                <a:cs typeface="Tahoma"/>
              </a:rPr>
              <a:t>Tools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spc="-50" dirty="0">
                <a:latin typeface="Tahoma"/>
                <a:cs typeface="Tahoma"/>
              </a:rPr>
              <a:t> Framework: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Local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endParaRPr sz="1100" dirty="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10" dirty="0">
                <a:latin typeface="Tahoma"/>
                <a:cs typeface="Tahoma"/>
              </a:rPr>
              <a:t>IDE: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VS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240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100" dirty="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Version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Control: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Git</a:t>
            </a:r>
            <a:r>
              <a:rPr sz="1100" i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240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GitHub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0016" y="1106245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68117" y="1085250"/>
            <a:ext cx="16878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0" dirty="0">
                <a:solidFill>
                  <a:srgbClr val="133768"/>
                </a:solidFill>
                <a:latin typeface="Arial MT"/>
                <a:cs typeface="Arial MT"/>
              </a:rPr>
              <a:t>Development</a:t>
            </a:r>
            <a:r>
              <a:rPr sz="1200" spc="1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133768"/>
                </a:solidFill>
                <a:latin typeface="Arial MT"/>
                <a:cs typeface="Arial MT"/>
              </a:rPr>
              <a:t>Methodology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30016" y="1291958"/>
            <a:ext cx="2520950" cy="1000125"/>
            <a:chOff x="2930016" y="1291958"/>
            <a:chExt cx="2520950" cy="10001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291958"/>
              <a:ext cx="252081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30016" y="1336240"/>
              <a:ext cx="2520950" cy="955675"/>
            </a:xfrm>
            <a:custGeom>
              <a:avLst/>
              <a:gdLst/>
              <a:ahLst/>
              <a:cxnLst/>
              <a:rect l="l" t="t" r="r" b="b"/>
              <a:pathLst>
                <a:path w="2520950" h="955675">
                  <a:moveTo>
                    <a:pt x="2520810" y="0"/>
                  </a:moveTo>
                  <a:lnTo>
                    <a:pt x="0" y="0"/>
                  </a:lnTo>
                  <a:lnTo>
                    <a:pt x="0" y="904674"/>
                  </a:lnTo>
                  <a:lnTo>
                    <a:pt x="4008" y="924399"/>
                  </a:lnTo>
                  <a:lnTo>
                    <a:pt x="14922" y="940552"/>
                  </a:lnTo>
                  <a:lnTo>
                    <a:pt x="31075" y="951466"/>
                  </a:lnTo>
                  <a:lnTo>
                    <a:pt x="50800" y="955474"/>
                  </a:lnTo>
                  <a:lnTo>
                    <a:pt x="2470010" y="955474"/>
                  </a:lnTo>
                  <a:lnTo>
                    <a:pt x="2489735" y="951466"/>
                  </a:lnTo>
                  <a:lnTo>
                    <a:pt x="2505888" y="940552"/>
                  </a:lnTo>
                  <a:lnTo>
                    <a:pt x="2516802" y="924399"/>
                  </a:lnTo>
                  <a:lnTo>
                    <a:pt x="2520810" y="904674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68180" y="1275382"/>
            <a:ext cx="1581785" cy="10128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45" dirty="0">
                <a:latin typeface="Tahoma"/>
                <a:cs typeface="Tahoma"/>
              </a:rPr>
              <a:t>Requirement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dirty="0">
                <a:latin typeface="Tahoma"/>
                <a:cs typeface="Tahoma"/>
              </a:rPr>
              <a:t>UI</a:t>
            </a:r>
            <a:r>
              <a:rPr sz="1100" spc="2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System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Design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30" dirty="0">
                <a:latin typeface="Tahoma"/>
                <a:cs typeface="Tahoma"/>
              </a:rPr>
              <a:t>Feature</a:t>
            </a:r>
            <a:r>
              <a:rPr sz="1100" spc="-45" dirty="0">
                <a:latin typeface="Tahoma"/>
                <a:cs typeface="Tahoma"/>
              </a:rPr>
              <a:t> Implementation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dirty="0">
                <a:latin typeface="Tahoma"/>
                <a:cs typeface="Tahoma"/>
              </a:rPr>
              <a:t>Testing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Debugging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dirty="0">
                <a:latin typeface="Tahoma"/>
                <a:cs typeface="Tahoma"/>
              </a:rPr>
              <a:t>Final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Evaluation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10" dirty="0"/>
              <a:t>/10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7093" y="2559913"/>
            <a:ext cx="4925060" cy="36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735" marR="5080" indent="-1931670">
              <a:lnSpc>
                <a:spcPct val="1411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595959"/>
                </a:solidFill>
                <a:latin typeface="Arial"/>
                <a:cs typeface="Arial"/>
              </a:rPr>
              <a:t>Justification:</a:t>
            </a:r>
            <a:r>
              <a:rPr sz="800" b="1" spc="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595959"/>
                </a:solidFill>
                <a:latin typeface="Arial MT"/>
                <a:cs typeface="Arial MT"/>
              </a:rPr>
              <a:t>These</a:t>
            </a:r>
            <a:r>
              <a:rPr sz="8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595959"/>
                </a:solidFill>
                <a:latin typeface="Arial MT"/>
                <a:cs typeface="Arial MT"/>
              </a:rPr>
              <a:t>technologies</a:t>
            </a:r>
            <a:r>
              <a:rPr sz="8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simple,</a:t>
            </a:r>
            <a:r>
              <a:rPr sz="8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595959"/>
                </a:solidFill>
                <a:latin typeface="Arial MT"/>
                <a:cs typeface="Arial MT"/>
              </a:rPr>
              <a:t>accessible</a:t>
            </a:r>
            <a:r>
              <a:rPr sz="8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suitable</a:t>
            </a:r>
            <a:r>
              <a:rPr sz="8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8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building</a:t>
            </a:r>
            <a:r>
              <a:rPr sz="8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sz="8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interactive</a:t>
            </a:r>
            <a:r>
              <a:rPr sz="800" spc="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595959"/>
                </a:solidFill>
                <a:latin typeface="Arial MT"/>
                <a:cs typeface="Arial MT"/>
              </a:rPr>
              <a:t>browser-</a:t>
            </a:r>
            <a:r>
              <a:rPr sz="800" spc="-20" dirty="0">
                <a:solidFill>
                  <a:srgbClr val="595959"/>
                </a:solidFill>
                <a:latin typeface="Arial MT"/>
                <a:cs typeface="Arial MT"/>
              </a:rPr>
              <a:t>based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DSA</a:t>
            </a:r>
            <a:r>
              <a:rPr sz="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learning</a:t>
            </a:r>
            <a:r>
              <a:rPr sz="8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platform.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Initial</a:t>
            </a:r>
            <a:r>
              <a:rPr spc="110" dirty="0"/>
              <a:t> </a:t>
            </a:r>
            <a:r>
              <a:rPr spc="-50" dirty="0"/>
              <a:t>Progress</a:t>
            </a:r>
            <a:r>
              <a:rPr spc="110" dirty="0"/>
              <a:t> </a:t>
            </a:r>
            <a:r>
              <a:rPr spc="170" dirty="0"/>
              <a:t>&amp;</a:t>
            </a:r>
            <a:r>
              <a:rPr spc="114" dirty="0"/>
              <a:t> </a:t>
            </a:r>
            <a:r>
              <a:rPr dirty="0"/>
              <a:t>Team</a:t>
            </a:r>
            <a:r>
              <a:rPr spc="110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1894" y="1021395"/>
            <a:ext cx="2042160" cy="14579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55" dirty="0">
                <a:solidFill>
                  <a:srgbClr val="133768"/>
                </a:solidFill>
                <a:latin typeface="Arial"/>
                <a:cs typeface="Arial"/>
              </a:rPr>
              <a:t>Progress</a:t>
            </a:r>
            <a:r>
              <a:rPr sz="1100" b="1" spc="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Achieved</a:t>
            </a:r>
            <a:endParaRPr sz="1100">
              <a:latin typeface="Arial"/>
              <a:cs typeface="Arial"/>
            </a:endParaRPr>
          </a:p>
          <a:p>
            <a:pPr marL="314960" marR="19494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requirements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identified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Basic</a:t>
            </a:r>
            <a:r>
              <a:rPr sz="1100" i="1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1100" i="1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r>
              <a:rPr sz="1100" i="1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prepared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Main </a:t>
            </a:r>
            <a:r>
              <a:rPr sz="1100" i="1" spc="-65" dirty="0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r>
              <a:rPr sz="1100" i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planned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Technology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595959"/>
                </a:solidFill>
                <a:latin typeface="Arial"/>
                <a:cs typeface="Arial"/>
              </a:rPr>
              <a:t>stack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selected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Initial</a:t>
            </a:r>
            <a:r>
              <a:rPr sz="1100" i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development</a:t>
            </a:r>
            <a:r>
              <a:rPr sz="1100" i="1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started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6479" y="1065172"/>
            <a:ext cx="14770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5" dirty="0">
                <a:solidFill>
                  <a:srgbClr val="133768"/>
                </a:solidFill>
                <a:latin typeface="Arial"/>
                <a:cs typeface="Arial"/>
              </a:rPr>
              <a:t>Individual</a:t>
            </a:r>
            <a:r>
              <a:rPr sz="1100" b="1" spc="3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133768"/>
                </a:solidFill>
                <a:latin typeface="Arial"/>
                <a:cs typeface="Arial"/>
              </a:rPr>
              <a:t>Contribution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779179" y="1234617"/>
          <a:ext cx="2621914" cy="505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Member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20" dirty="0">
                          <a:latin typeface="Arial MT"/>
                          <a:cs typeface="Arial MT"/>
                        </a:rPr>
                        <a:t>Role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Contribution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Abhishek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i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Lead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8930" indent="-635">
                        <a:lnSpc>
                          <a:spcPts val="950"/>
                        </a:lnSpc>
                        <a:spcBef>
                          <a:spcPts val="245"/>
                        </a:spcBef>
                      </a:pP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r>
                        <a:rPr sz="800" i="1" spc="36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Planning</a:t>
                      </a:r>
                      <a:r>
                        <a:rPr sz="800" i="1" spc="36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&amp; 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Coordination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766479" y="1754160"/>
            <a:ext cx="47180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i="1" spc="-25" dirty="0">
                <a:solidFill>
                  <a:srgbClr val="595959"/>
                </a:solidFill>
                <a:latin typeface="Arial"/>
                <a:cs typeface="Arial"/>
              </a:rPr>
              <a:t>Chaitanya</a:t>
            </a:r>
            <a:r>
              <a:rPr sz="800" i="1" spc="-10" dirty="0">
                <a:solidFill>
                  <a:srgbClr val="595959"/>
                </a:solidFill>
                <a:latin typeface="Arial"/>
                <a:cs typeface="Arial"/>
              </a:rPr>
              <a:t> Kharkwal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66312" y="1754160"/>
            <a:ext cx="471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0" dirty="0">
                <a:solidFill>
                  <a:srgbClr val="595959"/>
                </a:solidFill>
                <a:latin typeface="Arial"/>
                <a:cs typeface="Arial"/>
              </a:rPr>
              <a:t>Developer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79179" y="2052434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38141" y="1754160"/>
            <a:ext cx="974725" cy="579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  <a:tabLst>
                <a:tab pos="567690" algn="l"/>
              </a:tabLst>
            </a:pPr>
            <a:r>
              <a:rPr sz="800" i="1" spc="-10" dirty="0">
                <a:solidFill>
                  <a:srgbClr val="595959"/>
                </a:solidFill>
                <a:latin typeface="Arial"/>
                <a:cs typeface="Arial"/>
              </a:rPr>
              <a:t>Website</a:t>
            </a:r>
            <a:r>
              <a:rPr sz="800" i="1" dirty="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800" i="1" spc="-20" dirty="0">
                <a:solidFill>
                  <a:srgbClr val="595959"/>
                </a:solidFill>
                <a:latin typeface="Arial"/>
                <a:cs typeface="Arial"/>
              </a:rPr>
              <a:t>Develop-ment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555"/>
              </a:spcBef>
            </a:pPr>
            <a:r>
              <a:rPr sz="800" i="1" dirty="0">
                <a:solidFill>
                  <a:srgbClr val="595959"/>
                </a:solidFill>
                <a:latin typeface="Arial"/>
                <a:cs typeface="Arial"/>
              </a:rPr>
              <a:t>Testing</a:t>
            </a:r>
            <a:r>
              <a:rPr sz="800" i="1" spc="3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i="1" spc="100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800" i="1" spc="3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i="1" spc="-40" dirty="0">
                <a:solidFill>
                  <a:srgbClr val="595959"/>
                </a:solidFill>
                <a:latin typeface="Arial"/>
                <a:cs typeface="Arial"/>
              </a:rPr>
              <a:t>Progress</a:t>
            </a:r>
            <a:r>
              <a:rPr sz="800" i="1" spc="-10" dirty="0">
                <a:solidFill>
                  <a:srgbClr val="595959"/>
                </a:solidFill>
                <a:latin typeface="Arial"/>
                <a:cs typeface="Arial"/>
              </a:rPr>
              <a:t> Tracking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66479" y="2066136"/>
            <a:ext cx="6737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solidFill>
                  <a:srgbClr val="595959"/>
                </a:solidFill>
                <a:latin typeface="Arial"/>
                <a:cs typeface="Arial"/>
              </a:rPr>
              <a:t>Arihant</a:t>
            </a:r>
            <a:r>
              <a:rPr sz="800" i="1" spc="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i="1" spc="-10" dirty="0">
                <a:solidFill>
                  <a:srgbClr val="595959"/>
                </a:solidFill>
                <a:latin typeface="Arial"/>
                <a:cs typeface="Arial"/>
              </a:rPr>
              <a:t>Rawat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66402" y="2066136"/>
            <a:ext cx="556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solidFill>
                  <a:srgbClr val="595959"/>
                </a:solidFill>
                <a:latin typeface="Arial"/>
                <a:cs typeface="Arial"/>
              </a:rPr>
              <a:t>DB/Testing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79179" y="2364409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66479" y="2378111"/>
            <a:ext cx="47180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i="1" spc="-25" dirty="0">
                <a:solidFill>
                  <a:srgbClr val="595959"/>
                </a:solidFill>
                <a:latin typeface="Arial"/>
                <a:cs typeface="Arial"/>
              </a:rPr>
              <a:t>Chaitanya</a:t>
            </a:r>
            <a:r>
              <a:rPr sz="800" i="1" spc="-10" dirty="0">
                <a:solidFill>
                  <a:srgbClr val="595959"/>
                </a:solidFill>
                <a:latin typeface="Arial"/>
                <a:cs typeface="Arial"/>
              </a:rPr>
              <a:t> Maithani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66312" y="2378111"/>
            <a:ext cx="7486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solidFill>
                  <a:srgbClr val="595959"/>
                </a:solidFill>
                <a:latin typeface="Arial"/>
                <a:cs typeface="Arial"/>
              </a:rPr>
              <a:t>Developer/Docs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38141" y="2378111"/>
            <a:ext cx="974725" cy="26507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ts val="950"/>
              </a:lnSpc>
              <a:spcBef>
                <a:spcPts val="135"/>
              </a:spcBef>
            </a:pPr>
            <a:r>
              <a:rPr lang="en-US" sz="800" i="1" dirty="0" err="1">
                <a:solidFill>
                  <a:srgbClr val="595959"/>
                </a:solidFill>
                <a:latin typeface="Arial"/>
                <a:cs typeface="Arial"/>
              </a:rPr>
              <a:t>DMA,Stack</a:t>
            </a:r>
            <a:r>
              <a:rPr lang="en-US" sz="800" i="1">
                <a:solidFill>
                  <a:srgbClr val="595959"/>
                </a:solidFill>
                <a:latin typeface="Arial"/>
                <a:cs typeface="Arial"/>
              </a:rPr>
              <a:t> &amp;</a:t>
            </a:r>
            <a:r>
              <a:rPr sz="8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i="1" spc="100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800" i="1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i="1" spc="-10" dirty="0">
                <a:solidFill>
                  <a:srgbClr val="595959"/>
                </a:solidFill>
                <a:latin typeface="Arial"/>
                <a:cs typeface="Arial"/>
              </a:rPr>
              <a:t>Documenta-</a:t>
            </a:r>
            <a:r>
              <a:rPr sz="800" i="1" spc="-20" dirty="0">
                <a:solidFill>
                  <a:srgbClr val="595959"/>
                </a:solidFill>
                <a:latin typeface="Arial"/>
                <a:cs typeface="Arial"/>
              </a:rPr>
              <a:t>tion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779179" y="2798673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Roadmap,</a:t>
            </a:r>
            <a:r>
              <a:rPr spc="45" dirty="0"/>
              <a:t> </a:t>
            </a:r>
            <a:r>
              <a:rPr spc="-10" dirty="0"/>
              <a:t>Expected</a:t>
            </a:r>
            <a:r>
              <a:rPr spc="45" dirty="0"/>
              <a:t> </a:t>
            </a:r>
            <a:r>
              <a:rPr spc="-20" dirty="0"/>
              <a:t>Outcomes</a:t>
            </a:r>
            <a:r>
              <a:rPr spc="50" dirty="0"/>
              <a:t> </a:t>
            </a:r>
            <a:r>
              <a:rPr spc="170" dirty="0"/>
              <a:t>&amp;</a:t>
            </a:r>
            <a:r>
              <a:rPr spc="45" dirty="0"/>
              <a:t> </a:t>
            </a:r>
            <a:r>
              <a:rPr spc="-3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988819"/>
            <a:ext cx="212725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Roadmap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65" dirty="0">
                <a:latin typeface="Tahoma"/>
                <a:cs typeface="Tahoma"/>
              </a:rPr>
              <a:t>Phase-</a:t>
            </a:r>
            <a:r>
              <a:rPr sz="1100" dirty="0">
                <a:latin typeface="Tahoma"/>
                <a:cs typeface="Tahoma"/>
              </a:rPr>
              <a:t>I: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Proposal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Design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55" dirty="0">
                <a:latin typeface="Tahoma"/>
                <a:cs typeface="Tahoma"/>
              </a:rPr>
              <a:t>Phase-</a:t>
            </a:r>
            <a:r>
              <a:rPr sz="1100" spc="-50" dirty="0">
                <a:latin typeface="Tahoma"/>
                <a:cs typeface="Tahoma"/>
              </a:rPr>
              <a:t>II: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Development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55" dirty="0">
                <a:latin typeface="Tahoma"/>
                <a:cs typeface="Tahoma"/>
              </a:rPr>
              <a:t>Phase-</a:t>
            </a:r>
            <a:r>
              <a:rPr sz="1100" spc="-65" dirty="0">
                <a:latin typeface="Tahoma"/>
                <a:cs typeface="Tahoma"/>
              </a:rPr>
              <a:t>III:</a:t>
            </a:r>
            <a:r>
              <a:rPr sz="1100" dirty="0">
                <a:latin typeface="Tahoma"/>
                <a:cs typeface="Tahoma"/>
              </a:rPr>
              <a:t> Final </a:t>
            </a:r>
            <a:r>
              <a:rPr sz="1100" spc="-45" dirty="0">
                <a:latin typeface="Tahoma"/>
                <a:cs typeface="Tahoma"/>
              </a:rPr>
              <a:t>Implementation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1894" y="1900946"/>
            <a:ext cx="2178685" cy="10382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35" dirty="0">
                <a:solidFill>
                  <a:srgbClr val="133768"/>
                </a:solidFill>
                <a:latin typeface="Arial"/>
                <a:cs typeface="Arial"/>
              </a:rPr>
              <a:t>Expected</a:t>
            </a:r>
            <a:r>
              <a:rPr sz="1100" b="1" spc="1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Outcomes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30" dirty="0">
                <a:solidFill>
                  <a:srgbClr val="595959"/>
                </a:solidFill>
                <a:latin typeface="Arial"/>
                <a:cs typeface="Arial"/>
              </a:rPr>
              <a:t>Working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 DSA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platform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Interactive</a:t>
            </a:r>
            <a:r>
              <a:rPr sz="1100" i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visualizations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spc="-55" dirty="0">
                <a:solidFill>
                  <a:srgbClr val="595959"/>
                </a:solidFill>
                <a:latin typeface="Arial"/>
                <a:cs typeface="Arial"/>
              </a:rPr>
              <a:t>Topic-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wise</a:t>
            </a:r>
            <a:r>
              <a:rPr sz="1100" i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practice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Better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understanding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of 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8497" y="988819"/>
            <a:ext cx="1543685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References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100" dirty="0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sz="1100" i="1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595959"/>
                </a:solidFill>
                <a:latin typeface="Arial"/>
                <a:cs typeface="Arial"/>
              </a:rPr>
              <a:t>Documentation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LeetCode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MDN</a:t>
            </a:r>
            <a:r>
              <a:rPr sz="1100" i="1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100" i="1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Docs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Textbooks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3803" y="2188451"/>
            <a:ext cx="1924050" cy="371475"/>
          </a:xfrm>
          <a:prstGeom prst="rect">
            <a:avLst/>
          </a:prstGeom>
          <a:solidFill>
            <a:srgbClr val="13376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5"/>
              </a:lnSpc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sz="11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Suggestions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701</Words>
  <Application>Microsoft Office PowerPoint</Application>
  <PresentationFormat>Custom</PresentationFormat>
  <Paragraphs>152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MT</vt:lpstr>
      <vt:lpstr>Calibri</vt:lpstr>
      <vt:lpstr>Lucida Sans Unicode</vt:lpstr>
      <vt:lpstr>Tahoma</vt:lpstr>
      <vt:lpstr>Times New Roman</vt:lpstr>
      <vt:lpstr>Trebuchet MS</vt:lpstr>
      <vt:lpstr>Office Theme</vt:lpstr>
      <vt:lpstr>PROJECT-BASED LEARNING</vt:lpstr>
      <vt:lpstr>Team &amp; Mentor Details</vt:lpstr>
      <vt:lpstr>Problem Statement &amp; Motivation</vt:lpstr>
      <vt:lpstr>Objectives</vt:lpstr>
      <vt:lpstr>Proposed Solution</vt:lpstr>
      <vt:lpstr>Integration of PBL Course Concepts</vt:lpstr>
      <vt:lpstr>System Architecture / Workflow</vt:lpstr>
      <vt:lpstr>Technology Stack &amp; Methodology</vt:lpstr>
      <vt:lpstr>Initial Progress &amp; Team Contribution</vt:lpstr>
      <vt:lpstr>Roadmap, Expected Outcomes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Project-Based Learning [2mm]Phase-I Evaluation</dc:title>
  <dc:creator>Project TitleTeam ID: XXXX</dc:creator>
  <cp:lastModifiedBy>Abhishek</cp:lastModifiedBy>
  <cp:revision>4</cp:revision>
  <dcterms:created xsi:type="dcterms:W3CDTF">2026-09-07T13:01:32Z</dcterms:created>
  <dcterms:modified xsi:type="dcterms:W3CDTF">2026-09-10T12:06:59Z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2026-09-07T00:00:00Z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2026-09-07T00:00:00Z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
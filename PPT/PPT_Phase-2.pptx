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4" d="100"/>
          <a:sy n="204" d="100"/>
        </p:scale>
        <p:origin x="134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1894" y="913419"/>
            <a:ext cx="2247265" cy="197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018497" y="913419"/>
            <a:ext cx="2245360" cy="163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4304030" cy="2444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894" y="913419"/>
            <a:ext cx="2402205" cy="1184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7313" y="3133522"/>
            <a:ext cx="23812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819694"/>
            <a:ext cx="44748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dirty="0"/>
              <a:t>PROJECT-</a:t>
            </a:r>
            <a:r>
              <a:rPr sz="2450" spc="50" dirty="0"/>
              <a:t>BASED</a:t>
            </a:r>
            <a:r>
              <a:rPr sz="2450" spc="55" dirty="0"/>
              <a:t> </a:t>
            </a:r>
            <a:r>
              <a:rPr sz="2450" spc="-50" dirty="0"/>
              <a:t>LEARNING</a:t>
            </a:r>
            <a:endParaRPr sz="2450"/>
          </a:p>
        </p:txBody>
      </p:sp>
      <p:sp>
        <p:nvSpPr>
          <p:cNvPr id="5" name="object 5"/>
          <p:cNvSpPr txBox="1"/>
          <p:nvPr/>
        </p:nvSpPr>
        <p:spPr>
          <a:xfrm>
            <a:off x="1804212" y="1195928"/>
            <a:ext cx="2152015" cy="9759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latin typeface="Trebuchet MS"/>
                <a:cs typeface="Trebuchet MS"/>
              </a:rPr>
              <a:t>PHASE-II</a:t>
            </a:r>
            <a:r>
              <a:rPr sz="1700" spc="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EVALUATION</a:t>
            </a: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sz="1400" b="1" spc="-10" dirty="0">
                <a:solidFill>
                  <a:srgbClr val="595959"/>
                </a:solidFill>
                <a:latin typeface="Gill Sans MT"/>
                <a:cs typeface="Gill Sans MT"/>
              </a:rPr>
              <a:t>Algo</a:t>
            </a:r>
            <a:r>
              <a:rPr sz="1400" b="1" spc="-85" dirty="0">
                <a:solidFill>
                  <a:srgbClr val="595959"/>
                </a:solidFill>
                <a:latin typeface="Gill Sans MT"/>
                <a:cs typeface="Gill Sans MT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Gill Sans MT"/>
                <a:cs typeface="Gill Sans MT"/>
              </a:rPr>
              <a:t>Vision</a:t>
            </a:r>
            <a:endParaRPr sz="140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1100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100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sz="1100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33768"/>
                </a:solidFill>
                <a:latin typeface="Tahoma"/>
                <a:cs typeface="Tahoma"/>
              </a:rPr>
              <a:t>T218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latin typeface="Gill Sans MT"/>
                <a:cs typeface="Gill Sans MT"/>
              </a:rPr>
              <a:t>Department</a:t>
            </a:r>
            <a:r>
              <a:rPr sz="1100" b="1" spc="35" dirty="0">
                <a:latin typeface="Gill Sans MT"/>
                <a:cs typeface="Gill Sans MT"/>
              </a:rPr>
              <a:t> </a:t>
            </a:r>
            <a:r>
              <a:rPr sz="1100" b="1" dirty="0">
                <a:latin typeface="Gill Sans MT"/>
                <a:cs typeface="Gill Sans MT"/>
              </a:rPr>
              <a:t>of</a:t>
            </a:r>
            <a:r>
              <a:rPr sz="1100" b="1" spc="40" dirty="0">
                <a:latin typeface="Gill Sans MT"/>
                <a:cs typeface="Gill Sans MT"/>
              </a:rPr>
              <a:t> </a:t>
            </a:r>
            <a:r>
              <a:rPr sz="1100" b="1" spc="-50" dirty="0">
                <a:latin typeface="Gill Sans MT"/>
                <a:cs typeface="Gill Sans MT"/>
              </a:rPr>
              <a:t>Computer</a:t>
            </a:r>
            <a:r>
              <a:rPr sz="1100" b="1" spc="45" dirty="0">
                <a:latin typeface="Gill Sans MT"/>
                <a:cs typeface="Gill Sans MT"/>
              </a:rPr>
              <a:t> </a:t>
            </a:r>
            <a:r>
              <a:rPr sz="1100" b="1" spc="-20" dirty="0">
                <a:latin typeface="Gill Sans MT"/>
                <a:cs typeface="Gill Sans MT"/>
              </a:rPr>
              <a:t>Science</a:t>
            </a:r>
            <a:r>
              <a:rPr sz="1100" b="1" spc="40" dirty="0">
                <a:latin typeface="Gill Sans MT"/>
                <a:cs typeface="Gill Sans MT"/>
              </a:rPr>
              <a:t> </a:t>
            </a:r>
            <a:r>
              <a:rPr sz="1100" b="1" spc="70" dirty="0">
                <a:latin typeface="Gill Sans MT"/>
                <a:cs typeface="Gill Sans MT"/>
              </a:rPr>
              <a:t>&amp;</a:t>
            </a:r>
            <a:r>
              <a:rPr sz="1100" b="1" spc="45" dirty="0">
                <a:latin typeface="Gill Sans MT"/>
                <a:cs typeface="Gill Sans MT"/>
              </a:rPr>
              <a:t> </a:t>
            </a:r>
            <a:r>
              <a:rPr sz="1100" b="1" spc="-10" dirty="0">
                <a:latin typeface="Gill Sans MT"/>
                <a:cs typeface="Gill Sans MT"/>
              </a:rPr>
              <a:t>Engineering</a:t>
            </a:r>
            <a:endParaRPr sz="110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Graphic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Era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(Deemed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University), </a:t>
            </a:r>
            <a:r>
              <a:rPr sz="1100" spc="-10" dirty="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latin typeface="Arial"/>
                <a:cs typeface="Arial"/>
              </a:rPr>
              <a:t>Academic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40" dirty="0">
                <a:latin typeface="Arial"/>
                <a:cs typeface="Arial"/>
              </a:rPr>
              <a:t>Session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2026–</a:t>
            </a:r>
            <a:r>
              <a:rPr sz="800" spc="-25" dirty="0">
                <a:latin typeface="Arial"/>
                <a:cs typeface="Arial"/>
              </a:rPr>
              <a:t>27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Team</a:t>
            </a:r>
            <a:r>
              <a:rPr spc="50" dirty="0"/>
              <a:t> </a:t>
            </a:r>
            <a:r>
              <a:rPr spc="135" dirty="0"/>
              <a:t>&amp;</a:t>
            </a:r>
            <a:r>
              <a:rPr spc="50" dirty="0"/>
              <a:t> </a:t>
            </a:r>
            <a:r>
              <a:rPr dirty="0"/>
              <a:t>Mentor</a:t>
            </a:r>
            <a:r>
              <a:rPr spc="5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245526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224531"/>
            <a:ext cx="1129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Team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Information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30016" y="1245526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68117" y="1224531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Team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Members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9193" y="1464968"/>
            <a:ext cx="2520950" cy="758190"/>
          </a:xfrm>
          <a:custGeom>
            <a:avLst/>
            <a:gdLst/>
            <a:ahLst/>
            <a:cxnLst/>
            <a:rect l="l" t="t" r="r" b="b"/>
            <a:pathLst>
              <a:path w="2520950" h="758189">
                <a:moveTo>
                  <a:pt x="2520810" y="0"/>
                </a:moveTo>
                <a:lnTo>
                  <a:pt x="0" y="0"/>
                </a:lnTo>
                <a:lnTo>
                  <a:pt x="0" y="707238"/>
                </a:lnTo>
                <a:lnTo>
                  <a:pt x="4008" y="726963"/>
                </a:lnTo>
                <a:lnTo>
                  <a:pt x="14922" y="743116"/>
                </a:lnTo>
                <a:lnTo>
                  <a:pt x="31075" y="754030"/>
                </a:lnTo>
                <a:lnTo>
                  <a:pt x="50800" y="758039"/>
                </a:lnTo>
                <a:lnTo>
                  <a:pt x="2470010" y="758039"/>
                </a:lnTo>
                <a:lnTo>
                  <a:pt x="2489735" y="754030"/>
                </a:lnTo>
                <a:lnTo>
                  <a:pt x="2505888" y="743116"/>
                </a:lnTo>
                <a:lnTo>
                  <a:pt x="2516802" y="726963"/>
                </a:lnTo>
                <a:lnTo>
                  <a:pt x="2520810" y="707238"/>
                </a:lnTo>
                <a:lnTo>
                  <a:pt x="25208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1459482"/>
            <a:ext cx="65151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5" dirty="0">
                <a:latin typeface="Gill Sans MT"/>
                <a:cs typeface="Gill Sans MT"/>
              </a:rPr>
              <a:t>Team</a:t>
            </a:r>
            <a:r>
              <a:rPr sz="1100" b="1" spc="-5" dirty="0">
                <a:latin typeface="Gill Sans MT"/>
                <a:cs typeface="Gill Sans MT"/>
              </a:rPr>
              <a:t> </a:t>
            </a:r>
            <a:r>
              <a:rPr sz="1100" b="1" spc="-25" dirty="0">
                <a:latin typeface="Gill Sans MT"/>
                <a:cs typeface="Gill Sans MT"/>
              </a:rPr>
              <a:t>ID: </a:t>
            </a:r>
            <a:r>
              <a:rPr sz="1100" b="1" spc="-50" dirty="0">
                <a:latin typeface="Gill Sans MT"/>
                <a:cs typeface="Gill Sans MT"/>
              </a:rPr>
              <a:t>Semester: </a:t>
            </a:r>
            <a:r>
              <a:rPr sz="1100" b="1" spc="-10" dirty="0">
                <a:latin typeface="Gill Sans MT"/>
                <a:cs typeface="Gill Sans MT"/>
              </a:rPr>
              <a:t>Section: Domain:</a:t>
            </a:r>
            <a:endParaRPr sz="11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4839" y="1459482"/>
            <a:ext cx="1183005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T218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3rd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sz="1100" spc="-25" dirty="0">
                <a:latin typeface="Tahoma"/>
                <a:cs typeface="Tahoma"/>
              </a:rPr>
              <a:t>Cyber,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J (DSA)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Visualization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464961"/>
            <a:ext cx="2520950" cy="690245"/>
          </a:xfrm>
          <a:custGeom>
            <a:avLst/>
            <a:gdLst/>
            <a:ahLst/>
            <a:cxnLst/>
            <a:rect l="l" t="t" r="r" b="b"/>
            <a:pathLst>
              <a:path w="2520950" h="690244">
                <a:moveTo>
                  <a:pt x="2520810" y="0"/>
                </a:moveTo>
                <a:lnTo>
                  <a:pt x="0" y="0"/>
                </a:lnTo>
                <a:lnTo>
                  <a:pt x="0" y="639073"/>
                </a:lnTo>
                <a:lnTo>
                  <a:pt x="4008" y="658797"/>
                </a:lnTo>
                <a:lnTo>
                  <a:pt x="14922" y="674950"/>
                </a:lnTo>
                <a:lnTo>
                  <a:pt x="31075" y="685864"/>
                </a:lnTo>
                <a:lnTo>
                  <a:pt x="50800" y="689873"/>
                </a:lnTo>
                <a:lnTo>
                  <a:pt x="2470010" y="689873"/>
                </a:lnTo>
                <a:lnTo>
                  <a:pt x="2489735" y="685864"/>
                </a:lnTo>
                <a:lnTo>
                  <a:pt x="2505888" y="674950"/>
                </a:lnTo>
                <a:lnTo>
                  <a:pt x="2516802" y="658797"/>
                </a:lnTo>
                <a:lnTo>
                  <a:pt x="2520810" y="639073"/>
                </a:lnTo>
                <a:lnTo>
                  <a:pt x="25208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68117" y="1442947"/>
            <a:ext cx="2421255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258445" algn="l"/>
              </a:tabLst>
            </a:pPr>
            <a:r>
              <a:rPr sz="1100" spc="-25" dirty="0">
                <a:latin typeface="Tahoma"/>
                <a:cs typeface="Tahoma"/>
              </a:rPr>
              <a:t>Abhishek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2510012494</a:t>
            </a:r>
            <a:r>
              <a:rPr sz="1100" spc="-10" dirty="0">
                <a:latin typeface="Tahoma"/>
                <a:cs typeface="Tahoma"/>
              </a:rPr>
              <a:t> (Lead)</a:t>
            </a:r>
            <a:endParaRPr sz="1100">
              <a:latin typeface="Tahoma"/>
              <a:cs typeface="Tahoma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58445" algn="l"/>
              </a:tabLst>
            </a:pPr>
            <a:r>
              <a:rPr sz="1100" spc="-30" dirty="0">
                <a:latin typeface="Tahoma"/>
                <a:cs typeface="Tahoma"/>
              </a:rPr>
              <a:t>Chaitanya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Maithani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2510011693</a:t>
            </a:r>
            <a:endParaRPr sz="1100">
              <a:latin typeface="Tahoma"/>
              <a:cs typeface="Tahoma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58445" algn="l"/>
              </a:tabLst>
            </a:pPr>
            <a:r>
              <a:rPr sz="1100" spc="-30" dirty="0">
                <a:latin typeface="Tahoma"/>
                <a:cs typeface="Tahoma"/>
              </a:rPr>
              <a:t>Chaitanya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Kharakhwal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2510010395</a:t>
            </a:r>
            <a:endParaRPr sz="1100">
              <a:latin typeface="Tahoma"/>
              <a:cs typeface="Tahoma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58445" algn="l"/>
              </a:tabLst>
            </a:pPr>
            <a:r>
              <a:rPr sz="1100" spc="-10" dirty="0">
                <a:latin typeface="Tahoma"/>
                <a:cs typeface="Tahoma"/>
              </a:rPr>
              <a:t>Arihant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Rawat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2510012102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9193" y="2383573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7294" y="2362578"/>
            <a:ext cx="471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5" dirty="0">
                <a:solidFill>
                  <a:srgbClr val="133768"/>
                </a:solidFill>
                <a:latin typeface="Gill Sans MT"/>
                <a:cs typeface="Gill Sans MT"/>
              </a:rPr>
              <a:t>Mentor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9193" y="2603020"/>
            <a:ext cx="5142230" cy="193040"/>
          </a:xfrm>
          <a:custGeom>
            <a:avLst/>
            <a:gdLst/>
            <a:ahLst/>
            <a:cxnLst/>
            <a:rect l="l" t="t" r="r" b="b"/>
            <a:pathLst>
              <a:path w="5142230" h="193039">
                <a:moveTo>
                  <a:pt x="5141666" y="0"/>
                </a:moveTo>
                <a:lnTo>
                  <a:pt x="0" y="0"/>
                </a:lnTo>
                <a:lnTo>
                  <a:pt x="0" y="142084"/>
                </a:lnTo>
                <a:lnTo>
                  <a:pt x="4008" y="161809"/>
                </a:lnTo>
                <a:lnTo>
                  <a:pt x="14922" y="177962"/>
                </a:lnTo>
                <a:lnTo>
                  <a:pt x="31075" y="188876"/>
                </a:lnTo>
                <a:lnTo>
                  <a:pt x="50800" y="192885"/>
                </a:lnTo>
                <a:lnTo>
                  <a:pt x="5090865" y="192885"/>
                </a:lnTo>
                <a:lnTo>
                  <a:pt x="5110590" y="188876"/>
                </a:lnTo>
                <a:lnTo>
                  <a:pt x="5126743" y="177962"/>
                </a:lnTo>
                <a:lnTo>
                  <a:pt x="5137657" y="161809"/>
                </a:lnTo>
                <a:lnTo>
                  <a:pt x="5141666" y="142084"/>
                </a:lnTo>
                <a:lnTo>
                  <a:pt x="5141666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2573297"/>
            <a:ext cx="1287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Mr.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Kuldeep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Nautiyal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26270" y="2573297"/>
            <a:ext cx="1586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Gill Sans MT"/>
                <a:cs typeface="Gill Sans MT"/>
              </a:rPr>
              <a:t>Interactions</a:t>
            </a:r>
            <a:r>
              <a:rPr sz="1100" b="1" spc="35" dirty="0">
                <a:latin typeface="Gill Sans MT"/>
                <a:cs typeface="Gill Sans MT"/>
              </a:rPr>
              <a:t> </a:t>
            </a:r>
            <a:r>
              <a:rPr sz="1100" b="1" spc="-35" dirty="0">
                <a:latin typeface="Gill Sans MT"/>
                <a:cs typeface="Gill Sans MT"/>
              </a:rPr>
              <a:t>completed:</a:t>
            </a:r>
            <a:r>
              <a:rPr sz="1100" spc="-35" dirty="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2</a:t>
            </a:fld>
            <a:r>
              <a:rPr spc="-2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40232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Phase-I</a:t>
            </a:r>
            <a:r>
              <a:rPr spc="125" dirty="0"/>
              <a:t> </a:t>
            </a:r>
            <a:r>
              <a:rPr dirty="0"/>
              <a:t>Recap</a:t>
            </a:r>
            <a:r>
              <a:rPr spc="125" dirty="0"/>
              <a:t> </a:t>
            </a:r>
            <a:r>
              <a:rPr spc="135" dirty="0"/>
              <a:t>&amp;</a:t>
            </a:r>
            <a:r>
              <a:rPr spc="130" dirty="0"/>
              <a:t> </a:t>
            </a:r>
            <a:r>
              <a:rPr dirty="0"/>
              <a:t>Feedback</a:t>
            </a:r>
            <a:r>
              <a:rPr spc="125" dirty="0"/>
              <a:t> </a:t>
            </a:r>
            <a:r>
              <a:rPr spc="-15" dirty="0"/>
              <a:t>Incorporated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81" y="1013307"/>
            <a:ext cx="5142230" cy="756920"/>
          </a:xfrm>
          <a:custGeom>
            <a:avLst/>
            <a:gdLst/>
            <a:ahLst/>
            <a:cxnLst/>
            <a:rect l="l" t="t" r="r" b="b"/>
            <a:pathLst>
              <a:path w="5142230" h="756919">
                <a:moveTo>
                  <a:pt x="5141671" y="219456"/>
                </a:moveTo>
                <a:lnTo>
                  <a:pt x="0" y="219456"/>
                </a:lnTo>
                <a:lnTo>
                  <a:pt x="0" y="705688"/>
                </a:lnTo>
                <a:lnTo>
                  <a:pt x="4013" y="725424"/>
                </a:lnTo>
                <a:lnTo>
                  <a:pt x="14922" y="741578"/>
                </a:lnTo>
                <a:lnTo>
                  <a:pt x="31076" y="752487"/>
                </a:lnTo>
                <a:lnTo>
                  <a:pt x="50812" y="756500"/>
                </a:lnTo>
                <a:lnTo>
                  <a:pt x="5090871" y="756500"/>
                </a:lnTo>
                <a:lnTo>
                  <a:pt x="5110594" y="752487"/>
                </a:lnTo>
                <a:lnTo>
                  <a:pt x="5126748" y="741578"/>
                </a:lnTo>
                <a:lnTo>
                  <a:pt x="5137658" y="725424"/>
                </a:lnTo>
                <a:lnTo>
                  <a:pt x="5141671" y="705688"/>
                </a:lnTo>
                <a:lnTo>
                  <a:pt x="5141671" y="219456"/>
                </a:lnTo>
                <a:close/>
              </a:path>
              <a:path w="5142230" h="756919">
                <a:moveTo>
                  <a:pt x="5141671" y="50800"/>
                </a:moveTo>
                <a:lnTo>
                  <a:pt x="5137658" y="31076"/>
                </a:lnTo>
                <a:lnTo>
                  <a:pt x="5126748" y="14922"/>
                </a:lnTo>
                <a:lnTo>
                  <a:pt x="5110594" y="4013"/>
                </a:lnTo>
                <a:lnTo>
                  <a:pt x="5090871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0" y="50800"/>
                </a:lnTo>
                <a:lnTo>
                  <a:pt x="0" y="187833"/>
                </a:lnTo>
                <a:lnTo>
                  <a:pt x="5141671" y="187833"/>
                </a:lnTo>
                <a:lnTo>
                  <a:pt x="5141671" y="5080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961081"/>
            <a:ext cx="4729480" cy="7778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Phase-I</a:t>
            </a:r>
            <a:r>
              <a:rPr sz="1200" spc="15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Status</a:t>
            </a:r>
            <a:endParaRPr sz="1200">
              <a:latin typeface="Gill Sans MT"/>
              <a:cs typeface="Gill Sans MT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Phase-</a:t>
            </a:r>
            <a:r>
              <a:rPr sz="1100" dirty="0">
                <a:latin typeface="Tahoma"/>
                <a:cs typeface="Tahoma"/>
              </a:rPr>
              <a:t>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proposed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Gill Sans MT"/>
                <a:cs typeface="Gill Sans MT"/>
              </a:rPr>
              <a:t>Algo</a:t>
            </a:r>
            <a:r>
              <a:rPr sz="1100" b="1" spc="50" dirty="0">
                <a:latin typeface="Gill Sans MT"/>
                <a:cs typeface="Gill Sans MT"/>
              </a:rPr>
              <a:t> </a:t>
            </a:r>
            <a:r>
              <a:rPr sz="1100" b="1" spc="-10" dirty="0">
                <a:latin typeface="Gill Sans MT"/>
                <a:cs typeface="Gill Sans MT"/>
              </a:rPr>
              <a:t>Vision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platform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combines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DSA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learning, </a:t>
            </a:r>
            <a:r>
              <a:rPr sz="1100" spc="-50" dirty="0">
                <a:latin typeface="Tahoma"/>
                <a:cs typeface="Tahoma"/>
              </a:rPr>
              <a:t>step-</a:t>
            </a:r>
            <a:r>
              <a:rPr sz="1100" spc="-65" dirty="0">
                <a:latin typeface="Tahoma"/>
                <a:cs typeface="Tahoma"/>
              </a:rPr>
              <a:t>by-</a:t>
            </a:r>
            <a:r>
              <a:rPr sz="1100" spc="-35" dirty="0">
                <a:latin typeface="Tahoma"/>
                <a:cs typeface="Tahoma"/>
              </a:rPr>
              <a:t>step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visualization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practice.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problem,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objectives,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architecture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40" dirty="0">
                <a:latin typeface="Tahoma"/>
                <a:cs typeface="Tahoma"/>
              </a:rPr>
              <a:t>technology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stack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finalised,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development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started.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894" y="1878746"/>
            <a:ext cx="1794510" cy="8407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5" dirty="0">
                <a:solidFill>
                  <a:srgbClr val="133768"/>
                </a:solidFill>
                <a:latin typeface="Gill Sans MT"/>
                <a:cs typeface="Gill Sans MT"/>
              </a:rPr>
              <a:t>Feedback</a:t>
            </a:r>
            <a:r>
              <a:rPr sz="1100" b="1" spc="1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Received</a:t>
            </a:r>
            <a:endParaRPr sz="1100">
              <a:latin typeface="Gill Sans MT"/>
              <a:cs typeface="Gill Sans MT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40" dirty="0">
                <a:latin typeface="Tahoma"/>
                <a:cs typeface="Tahoma"/>
              </a:rPr>
              <a:t>Suggestion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Feedback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40" dirty="0">
                <a:latin typeface="Tahoma"/>
                <a:cs typeface="Tahoma"/>
              </a:rPr>
              <a:t>Suggestion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Feedback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40" dirty="0">
                <a:latin typeface="Tahoma"/>
                <a:cs typeface="Tahoma"/>
              </a:rPr>
              <a:t>Suggestion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Feedback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42717" y="1878746"/>
            <a:ext cx="2229485" cy="11849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133768"/>
                </a:solidFill>
                <a:latin typeface="Gill Sans MT"/>
                <a:cs typeface="Gill Sans MT"/>
              </a:rPr>
              <a:t>Changes</a:t>
            </a:r>
            <a:r>
              <a:rPr sz="1100" b="1" spc="1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Incorporated</a:t>
            </a:r>
            <a:endParaRPr sz="1100">
              <a:latin typeface="Gill Sans MT"/>
              <a:cs typeface="Gill Sans MT"/>
            </a:endParaRPr>
          </a:p>
          <a:p>
            <a:pPr marL="314960" marR="30480" indent="-177165" algn="just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40" dirty="0">
                <a:latin typeface="Tahoma"/>
                <a:cs typeface="Tahoma"/>
              </a:rPr>
              <a:t>Technology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stack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made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clearer: </a:t>
            </a:r>
            <a:r>
              <a:rPr sz="1100" dirty="0">
                <a:latin typeface="Tahoma"/>
                <a:cs typeface="Tahoma"/>
              </a:rPr>
              <a:t>HTML/CSS/JavaScript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interface,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Local</a:t>
            </a:r>
            <a:r>
              <a:rPr sz="1100" spc="-35" dirty="0">
                <a:latin typeface="Tahoma"/>
                <a:cs typeface="Tahoma"/>
              </a:rPr>
              <a:t> Storage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data</a:t>
            </a:r>
            <a:endParaRPr sz="1100">
              <a:latin typeface="Tahoma"/>
              <a:cs typeface="Tahoma"/>
            </a:endParaRPr>
          </a:p>
          <a:p>
            <a:pPr marL="314960" indent="-177165" algn="just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Modification </a:t>
            </a:r>
            <a:r>
              <a:rPr sz="1100" spc="-6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  <a:p>
            <a:pPr marL="314960" indent="-177165" algn="just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Modification </a:t>
            </a:r>
            <a:r>
              <a:rPr sz="1100" spc="-60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3</a:t>
            </a:fld>
            <a:r>
              <a:rPr spc="-2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Problem</a:t>
            </a:r>
            <a:r>
              <a:rPr spc="30" dirty="0"/>
              <a:t> </a:t>
            </a:r>
            <a:r>
              <a:rPr dirty="0"/>
              <a:t>Statement</a:t>
            </a:r>
            <a:r>
              <a:rPr spc="30" dirty="0"/>
              <a:t> </a:t>
            </a:r>
            <a:r>
              <a:rPr spc="135" dirty="0"/>
              <a:t>&amp;</a:t>
            </a:r>
            <a:r>
              <a:rPr spc="35" dirty="0"/>
              <a:t> </a:t>
            </a:r>
            <a:r>
              <a:rPr dirty="0"/>
              <a:t>Finalized</a:t>
            </a:r>
            <a:r>
              <a:rPr spc="3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81" y="1044727"/>
            <a:ext cx="5142230" cy="756920"/>
          </a:xfrm>
          <a:custGeom>
            <a:avLst/>
            <a:gdLst/>
            <a:ahLst/>
            <a:cxnLst/>
            <a:rect l="l" t="t" r="r" b="b"/>
            <a:pathLst>
              <a:path w="5142230" h="756919">
                <a:moveTo>
                  <a:pt x="5141671" y="219456"/>
                </a:moveTo>
                <a:lnTo>
                  <a:pt x="0" y="219456"/>
                </a:lnTo>
                <a:lnTo>
                  <a:pt x="0" y="705700"/>
                </a:lnTo>
                <a:lnTo>
                  <a:pt x="4013" y="725424"/>
                </a:lnTo>
                <a:lnTo>
                  <a:pt x="14922" y="741578"/>
                </a:lnTo>
                <a:lnTo>
                  <a:pt x="31076" y="752487"/>
                </a:lnTo>
                <a:lnTo>
                  <a:pt x="50812" y="756500"/>
                </a:lnTo>
                <a:lnTo>
                  <a:pt x="5090871" y="756500"/>
                </a:lnTo>
                <a:lnTo>
                  <a:pt x="5110594" y="752487"/>
                </a:lnTo>
                <a:lnTo>
                  <a:pt x="5126748" y="741578"/>
                </a:lnTo>
                <a:lnTo>
                  <a:pt x="5137658" y="725424"/>
                </a:lnTo>
                <a:lnTo>
                  <a:pt x="5141671" y="705700"/>
                </a:lnTo>
                <a:lnTo>
                  <a:pt x="5141671" y="219456"/>
                </a:lnTo>
                <a:close/>
              </a:path>
              <a:path w="5142230" h="756919">
                <a:moveTo>
                  <a:pt x="5141671" y="50812"/>
                </a:moveTo>
                <a:lnTo>
                  <a:pt x="5137658" y="31076"/>
                </a:lnTo>
                <a:lnTo>
                  <a:pt x="5126748" y="14922"/>
                </a:lnTo>
                <a:lnTo>
                  <a:pt x="5110594" y="4013"/>
                </a:lnTo>
                <a:lnTo>
                  <a:pt x="5090871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0" y="50812"/>
                </a:lnTo>
                <a:lnTo>
                  <a:pt x="0" y="187833"/>
                </a:lnTo>
                <a:lnTo>
                  <a:pt x="5141671" y="187833"/>
                </a:lnTo>
                <a:lnTo>
                  <a:pt x="5141671" y="50812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992500"/>
            <a:ext cx="5024120" cy="19589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Problem</a:t>
            </a:r>
            <a:r>
              <a:rPr sz="1200" spc="-3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Statement</a:t>
            </a:r>
            <a:endParaRPr sz="1200">
              <a:latin typeface="Gill Sans MT"/>
              <a:cs typeface="Gill Sans MT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sz="1100" spc="-40" dirty="0">
                <a:latin typeface="Tahoma"/>
                <a:cs typeface="Tahoma"/>
              </a:rPr>
              <a:t>Beginners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DSA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hard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understand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through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code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alone,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especially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pointers,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nodes and </a:t>
            </a:r>
            <a:r>
              <a:rPr sz="1100" spc="-65" dirty="0">
                <a:latin typeface="Tahoma"/>
                <a:cs typeface="Tahoma"/>
              </a:rPr>
              <a:t>memory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changes.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Learning,</a:t>
            </a:r>
            <a:r>
              <a:rPr sz="1100" spc="-25" dirty="0">
                <a:latin typeface="Tahoma"/>
                <a:cs typeface="Tahoma"/>
              </a:rPr>
              <a:t> visualization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practice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available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25" dirty="0">
                <a:latin typeface="Tahoma"/>
                <a:cs typeface="Tahoma"/>
              </a:rPr>
              <a:t> on </a:t>
            </a:r>
            <a:r>
              <a:rPr sz="1100" spc="-50" dirty="0">
                <a:latin typeface="Tahoma"/>
                <a:cs typeface="Tahoma"/>
              </a:rPr>
              <a:t>separate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platforms.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b="1" spc="-25" dirty="0">
                <a:solidFill>
                  <a:srgbClr val="133768"/>
                </a:solidFill>
                <a:latin typeface="Gill Sans MT"/>
                <a:cs typeface="Gill Sans MT"/>
              </a:rPr>
              <a:t>Finalized</a:t>
            </a:r>
            <a:r>
              <a:rPr sz="1100" b="1" spc="3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Objectives</a:t>
            </a:r>
            <a:endParaRPr sz="1100">
              <a:latin typeface="Gill Sans MT"/>
              <a:cs typeface="Gill Sans MT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20" dirty="0">
                <a:latin typeface="Tahoma"/>
                <a:cs typeface="Tahoma"/>
              </a:rPr>
              <a:t>Explain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DSA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C++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examples.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20" dirty="0">
                <a:latin typeface="Tahoma"/>
                <a:cs typeface="Tahoma"/>
              </a:rPr>
              <a:t>Visualize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operations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Arrays,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Linked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Lists,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Stacks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60" dirty="0">
                <a:latin typeface="Tahoma"/>
                <a:cs typeface="Tahoma"/>
              </a:rPr>
              <a:t>Queues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step </a:t>
            </a:r>
            <a:r>
              <a:rPr sz="1100" spc="-30" dirty="0">
                <a:latin typeface="Tahoma"/>
                <a:cs typeface="Tahoma"/>
              </a:rPr>
              <a:t>by </a:t>
            </a:r>
            <a:r>
              <a:rPr sz="1100" spc="-10" dirty="0">
                <a:latin typeface="Tahoma"/>
                <a:cs typeface="Tahoma"/>
              </a:rPr>
              <a:t>step.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20" dirty="0">
                <a:latin typeface="Tahoma"/>
                <a:cs typeface="Tahoma"/>
              </a:rPr>
              <a:t>Provide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practice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questions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based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topic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difficulty.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10" dirty="0">
                <a:latin typeface="Tahoma"/>
                <a:cs typeface="Tahoma"/>
              </a:rPr>
              <a:t>Track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student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progress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locally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browser.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4</a:t>
            </a:fld>
            <a:r>
              <a:rPr spc="-2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Updated</a:t>
            </a:r>
            <a:r>
              <a:rPr spc="65" dirty="0"/>
              <a:t> </a:t>
            </a:r>
            <a:r>
              <a:rPr dirty="0"/>
              <a:t>System</a:t>
            </a:r>
            <a:r>
              <a:rPr spc="70" dirty="0"/>
              <a:t> </a:t>
            </a:r>
            <a:r>
              <a:rPr spc="-20" dirty="0"/>
              <a:t>Architecture</a:t>
            </a:r>
            <a:r>
              <a:rPr spc="70" dirty="0"/>
              <a:t> </a:t>
            </a:r>
            <a:r>
              <a:rPr spc="395" dirty="0"/>
              <a:t>/</a:t>
            </a:r>
            <a:r>
              <a:rPr spc="70" dirty="0"/>
              <a:t> </a:t>
            </a:r>
            <a:r>
              <a:rPr spc="-45" dirty="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59982" y="1137052"/>
            <a:ext cx="1062990" cy="368935"/>
            <a:chOff x="359982" y="1137052"/>
            <a:chExt cx="1062990" cy="368935"/>
          </a:xfrm>
        </p:grpSpPr>
        <p:sp>
          <p:nvSpPr>
            <p:cNvPr id="5" name="object 5"/>
            <p:cNvSpPr/>
            <p:nvPr/>
          </p:nvSpPr>
          <p:spPr>
            <a:xfrm>
              <a:off x="362522" y="1139592"/>
              <a:ext cx="1057910" cy="363855"/>
            </a:xfrm>
            <a:custGeom>
              <a:avLst/>
              <a:gdLst/>
              <a:ahLst/>
              <a:cxnLst/>
              <a:rect l="l" t="t" r="r" b="b"/>
              <a:pathLst>
                <a:path w="1057910" h="363855">
                  <a:moveTo>
                    <a:pt x="100686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1006866" y="363685"/>
                  </a:lnTo>
                  <a:lnTo>
                    <a:pt x="1026566" y="359707"/>
                  </a:lnTo>
                  <a:lnTo>
                    <a:pt x="1042653" y="348861"/>
                  </a:lnTo>
                  <a:lnTo>
                    <a:pt x="1053499" y="332774"/>
                  </a:lnTo>
                  <a:lnTo>
                    <a:pt x="1057476" y="313074"/>
                  </a:lnTo>
                  <a:lnTo>
                    <a:pt x="1057476" y="50610"/>
                  </a:lnTo>
                  <a:lnTo>
                    <a:pt x="1053499" y="30910"/>
                  </a:lnTo>
                  <a:lnTo>
                    <a:pt x="1042653" y="14823"/>
                  </a:lnTo>
                  <a:lnTo>
                    <a:pt x="1026566" y="3977"/>
                  </a:lnTo>
                  <a:lnTo>
                    <a:pt x="10068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522" y="1139592"/>
              <a:ext cx="1057910" cy="363855"/>
            </a:xfrm>
            <a:custGeom>
              <a:avLst/>
              <a:gdLst/>
              <a:ahLst/>
              <a:cxnLst/>
              <a:rect l="l" t="t" r="r" b="b"/>
              <a:pathLst>
                <a:path w="1057910" h="363855">
                  <a:moveTo>
                    <a:pt x="100686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1006866" y="363685"/>
                  </a:lnTo>
                  <a:lnTo>
                    <a:pt x="1026566" y="359707"/>
                  </a:lnTo>
                  <a:lnTo>
                    <a:pt x="1042653" y="348861"/>
                  </a:lnTo>
                  <a:lnTo>
                    <a:pt x="1053499" y="332774"/>
                  </a:lnTo>
                  <a:lnTo>
                    <a:pt x="1057476" y="313074"/>
                  </a:lnTo>
                  <a:lnTo>
                    <a:pt x="1057476" y="50610"/>
                  </a:lnTo>
                  <a:lnTo>
                    <a:pt x="1053499" y="30910"/>
                  </a:lnTo>
                  <a:lnTo>
                    <a:pt x="1042653" y="14823"/>
                  </a:lnTo>
                  <a:lnTo>
                    <a:pt x="1026566" y="3977"/>
                  </a:lnTo>
                  <a:lnTo>
                    <a:pt x="100686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6011" y="1134407"/>
            <a:ext cx="99123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2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Input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ts val="1200"/>
              </a:lnSpc>
            </a:pPr>
            <a:r>
              <a:rPr sz="1000" dirty="0">
                <a:latin typeface="Tahoma"/>
                <a:cs typeface="Tahoma"/>
              </a:rPr>
              <a:t>Topic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105" dirty="0">
                <a:latin typeface="Tahoma"/>
                <a:cs typeface="Tahoma"/>
              </a:rPr>
              <a:t>/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Operation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74523" y="1152868"/>
            <a:ext cx="761365" cy="337185"/>
            <a:chOff x="1674523" y="1152868"/>
            <a:chExt cx="761365" cy="337185"/>
          </a:xfrm>
        </p:grpSpPr>
        <p:sp>
          <p:nvSpPr>
            <p:cNvPr id="9" name="object 9"/>
            <p:cNvSpPr/>
            <p:nvPr/>
          </p:nvSpPr>
          <p:spPr>
            <a:xfrm>
              <a:off x="1677063" y="1155408"/>
              <a:ext cx="756285" cy="332105"/>
            </a:xfrm>
            <a:custGeom>
              <a:avLst/>
              <a:gdLst/>
              <a:ahLst/>
              <a:cxnLst/>
              <a:rect l="l" t="t" r="r" b="b"/>
              <a:pathLst>
                <a:path w="756285" h="33210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05400" y="332053"/>
                  </a:lnTo>
                  <a:lnTo>
                    <a:pt x="725101" y="328076"/>
                  </a:lnTo>
                  <a:lnTo>
                    <a:pt x="741188" y="317229"/>
                  </a:lnTo>
                  <a:lnTo>
                    <a:pt x="752034" y="301142"/>
                  </a:lnTo>
                  <a:lnTo>
                    <a:pt x="756011" y="281442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7063" y="1155408"/>
              <a:ext cx="756285" cy="332105"/>
            </a:xfrm>
            <a:custGeom>
              <a:avLst/>
              <a:gdLst/>
              <a:ahLst/>
              <a:cxnLst/>
              <a:rect l="l" t="t" r="r" b="b"/>
              <a:pathLst>
                <a:path w="756285" h="33210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05400" y="332053"/>
                  </a:lnTo>
                  <a:lnTo>
                    <a:pt x="725101" y="328076"/>
                  </a:lnTo>
                  <a:lnTo>
                    <a:pt x="741188" y="317229"/>
                  </a:lnTo>
                  <a:lnTo>
                    <a:pt x="752034" y="301142"/>
                  </a:lnTo>
                  <a:lnTo>
                    <a:pt x="756011" y="281442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43532" y="1150231"/>
            <a:ext cx="6235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05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Processing </a:t>
            </a:r>
            <a:r>
              <a:rPr sz="1000" dirty="0">
                <a:latin typeface="Tahoma"/>
                <a:cs typeface="Tahoma"/>
              </a:rPr>
              <a:t>UI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25" dirty="0">
                <a:latin typeface="Tahoma"/>
                <a:cs typeface="Tahoma"/>
              </a:rPr>
              <a:t>DOM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87598" y="1140566"/>
            <a:ext cx="961390" cy="361950"/>
            <a:chOff x="2687598" y="1140566"/>
            <a:chExt cx="961390" cy="361950"/>
          </a:xfrm>
        </p:grpSpPr>
        <p:sp>
          <p:nvSpPr>
            <p:cNvPr id="13" name="object 13"/>
            <p:cNvSpPr/>
            <p:nvPr/>
          </p:nvSpPr>
          <p:spPr>
            <a:xfrm>
              <a:off x="2690138" y="1143106"/>
              <a:ext cx="956310" cy="356870"/>
            </a:xfrm>
            <a:custGeom>
              <a:avLst/>
              <a:gdLst/>
              <a:ahLst/>
              <a:cxnLst/>
              <a:rect l="l" t="t" r="r" b="b"/>
              <a:pathLst>
                <a:path w="956310" h="356869">
                  <a:moveTo>
                    <a:pt x="90529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905293" y="356656"/>
                  </a:lnTo>
                  <a:lnTo>
                    <a:pt x="924993" y="352678"/>
                  </a:lnTo>
                  <a:lnTo>
                    <a:pt x="941080" y="341832"/>
                  </a:lnTo>
                  <a:lnTo>
                    <a:pt x="951927" y="325745"/>
                  </a:lnTo>
                  <a:lnTo>
                    <a:pt x="955904" y="306045"/>
                  </a:lnTo>
                  <a:lnTo>
                    <a:pt x="955904" y="50610"/>
                  </a:lnTo>
                  <a:lnTo>
                    <a:pt x="951927" y="30910"/>
                  </a:lnTo>
                  <a:lnTo>
                    <a:pt x="941080" y="14823"/>
                  </a:lnTo>
                  <a:lnTo>
                    <a:pt x="924993" y="3977"/>
                  </a:lnTo>
                  <a:lnTo>
                    <a:pt x="905293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90138" y="1143106"/>
              <a:ext cx="956310" cy="356870"/>
            </a:xfrm>
            <a:custGeom>
              <a:avLst/>
              <a:gdLst/>
              <a:ahLst/>
              <a:cxnLst/>
              <a:rect l="l" t="t" r="r" b="b"/>
              <a:pathLst>
                <a:path w="956310" h="356869">
                  <a:moveTo>
                    <a:pt x="90529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905293" y="356656"/>
                  </a:lnTo>
                  <a:lnTo>
                    <a:pt x="924993" y="352678"/>
                  </a:lnTo>
                  <a:lnTo>
                    <a:pt x="941080" y="341832"/>
                  </a:lnTo>
                  <a:lnTo>
                    <a:pt x="951927" y="325745"/>
                  </a:lnTo>
                  <a:lnTo>
                    <a:pt x="955904" y="306045"/>
                  </a:lnTo>
                  <a:lnTo>
                    <a:pt x="955904" y="50610"/>
                  </a:lnTo>
                  <a:lnTo>
                    <a:pt x="951927" y="30910"/>
                  </a:lnTo>
                  <a:lnTo>
                    <a:pt x="941080" y="14823"/>
                  </a:lnTo>
                  <a:lnTo>
                    <a:pt x="924993" y="3977"/>
                  </a:lnTo>
                  <a:lnTo>
                    <a:pt x="905293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23591" y="1137925"/>
            <a:ext cx="8890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986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Core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Logic </a:t>
            </a:r>
            <a:r>
              <a:rPr sz="1000" dirty="0">
                <a:latin typeface="Tahoma"/>
                <a:cs typeface="Tahoma"/>
              </a:rPr>
              <a:t>DSA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Operations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00567" y="1140566"/>
            <a:ext cx="821690" cy="361950"/>
            <a:chOff x="3900567" y="1140566"/>
            <a:chExt cx="821690" cy="361950"/>
          </a:xfrm>
        </p:grpSpPr>
        <p:sp>
          <p:nvSpPr>
            <p:cNvPr id="17" name="object 17"/>
            <p:cNvSpPr/>
            <p:nvPr/>
          </p:nvSpPr>
          <p:spPr>
            <a:xfrm>
              <a:off x="3903107" y="1143106"/>
              <a:ext cx="816610" cy="356870"/>
            </a:xfrm>
            <a:custGeom>
              <a:avLst/>
              <a:gdLst/>
              <a:ahLst/>
              <a:cxnLst/>
              <a:rect l="l" t="t" r="r" b="b"/>
              <a:pathLst>
                <a:path w="816610" h="356869">
                  <a:moveTo>
                    <a:pt x="7657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65762" y="356656"/>
                  </a:lnTo>
                  <a:lnTo>
                    <a:pt x="785462" y="352678"/>
                  </a:lnTo>
                  <a:lnTo>
                    <a:pt x="801549" y="341832"/>
                  </a:lnTo>
                  <a:lnTo>
                    <a:pt x="812396" y="325745"/>
                  </a:lnTo>
                  <a:lnTo>
                    <a:pt x="816373" y="306045"/>
                  </a:lnTo>
                  <a:lnTo>
                    <a:pt x="816373" y="50610"/>
                  </a:lnTo>
                  <a:lnTo>
                    <a:pt x="812396" y="30910"/>
                  </a:lnTo>
                  <a:lnTo>
                    <a:pt x="801549" y="14823"/>
                  </a:lnTo>
                  <a:lnTo>
                    <a:pt x="785462" y="3977"/>
                  </a:lnTo>
                  <a:lnTo>
                    <a:pt x="765762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03107" y="1143106"/>
              <a:ext cx="816610" cy="356870"/>
            </a:xfrm>
            <a:custGeom>
              <a:avLst/>
              <a:gdLst/>
              <a:ahLst/>
              <a:cxnLst/>
              <a:rect l="l" t="t" r="r" b="b"/>
              <a:pathLst>
                <a:path w="816610" h="356869">
                  <a:moveTo>
                    <a:pt x="7657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65762" y="356656"/>
                  </a:lnTo>
                  <a:lnTo>
                    <a:pt x="785462" y="352678"/>
                  </a:lnTo>
                  <a:lnTo>
                    <a:pt x="801549" y="341832"/>
                  </a:lnTo>
                  <a:lnTo>
                    <a:pt x="812396" y="325745"/>
                  </a:lnTo>
                  <a:lnTo>
                    <a:pt x="816373" y="306045"/>
                  </a:lnTo>
                  <a:lnTo>
                    <a:pt x="816373" y="50610"/>
                  </a:lnTo>
                  <a:lnTo>
                    <a:pt x="812396" y="30910"/>
                  </a:lnTo>
                  <a:lnTo>
                    <a:pt x="801549" y="14823"/>
                  </a:lnTo>
                  <a:lnTo>
                    <a:pt x="785462" y="3977"/>
                  </a:lnTo>
                  <a:lnTo>
                    <a:pt x="765762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36542" y="1137925"/>
            <a:ext cx="7493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192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Storage </a:t>
            </a:r>
            <a:r>
              <a:rPr sz="1000" dirty="0">
                <a:latin typeface="Tahoma"/>
                <a:cs typeface="Tahoma"/>
              </a:rPr>
              <a:t>Local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Storage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22529" y="1298185"/>
            <a:ext cx="3535679" cy="46990"/>
            <a:chOff x="1422529" y="1298185"/>
            <a:chExt cx="3535679" cy="46990"/>
          </a:xfrm>
        </p:grpSpPr>
        <p:sp>
          <p:nvSpPr>
            <p:cNvPr id="25" name="object 25"/>
            <p:cNvSpPr/>
            <p:nvPr/>
          </p:nvSpPr>
          <p:spPr>
            <a:xfrm>
              <a:off x="1422529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07592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07592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35605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20668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20668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48573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33637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33637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22011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07074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7074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974004" y="1140566"/>
            <a:ext cx="761365" cy="361950"/>
            <a:chOff x="4974004" y="1140566"/>
            <a:chExt cx="761365" cy="361950"/>
          </a:xfrm>
        </p:grpSpPr>
        <p:sp>
          <p:nvSpPr>
            <p:cNvPr id="21" name="object 21"/>
            <p:cNvSpPr/>
            <p:nvPr/>
          </p:nvSpPr>
          <p:spPr>
            <a:xfrm>
              <a:off x="4976544" y="1143106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76544" y="1143106"/>
              <a:ext cx="756285" cy="356870"/>
            </a:xfrm>
            <a:custGeom>
              <a:avLst/>
              <a:gdLst/>
              <a:ahLst/>
              <a:cxnLst/>
              <a:rect l="l" t="t" r="r" b="b"/>
              <a:pathLst>
                <a:path w="756285" h="356869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017922" y="1137925"/>
            <a:ext cx="67373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335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Output </a:t>
            </a:r>
            <a:r>
              <a:rPr sz="1000" dirty="0">
                <a:latin typeface="Tahoma"/>
                <a:cs typeface="Tahoma"/>
              </a:rPr>
              <a:t>Visual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Steps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1894" y="1712097"/>
            <a:ext cx="2254885" cy="8407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33768"/>
                </a:solidFill>
                <a:latin typeface="Gill Sans MT"/>
                <a:cs typeface="Gill Sans MT"/>
              </a:rPr>
              <a:t>Major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Components</a:t>
            </a:r>
            <a:endParaRPr sz="1100">
              <a:latin typeface="Gill Sans MT"/>
              <a:cs typeface="Gill Sans MT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User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Interface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Visualization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Module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Practice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Progress</a:t>
            </a:r>
            <a:r>
              <a:rPr sz="1100" spc="-10" dirty="0">
                <a:latin typeface="Tahoma"/>
                <a:cs typeface="Tahoma"/>
              </a:rPr>
              <a:t> Module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42717" y="1712097"/>
            <a:ext cx="2459355" cy="13569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133768"/>
                </a:solidFill>
                <a:latin typeface="Gill Sans MT"/>
                <a:cs typeface="Gill Sans MT"/>
              </a:rPr>
              <a:t>Changes</a:t>
            </a:r>
            <a:r>
              <a:rPr sz="1100" b="1" spc="2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Since</a:t>
            </a:r>
            <a:r>
              <a:rPr sz="1100" b="1" spc="2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Phase-</a:t>
            </a:r>
            <a:r>
              <a:rPr sz="1100" b="1" spc="-50" dirty="0">
                <a:solidFill>
                  <a:srgbClr val="133768"/>
                </a:solidFill>
                <a:latin typeface="Gill Sans MT"/>
                <a:cs typeface="Gill Sans MT"/>
              </a:rPr>
              <a:t>I</a:t>
            </a:r>
            <a:endParaRPr sz="1100">
              <a:latin typeface="Gill Sans MT"/>
              <a:cs typeface="Gill Sans MT"/>
            </a:endParaRPr>
          </a:p>
          <a:p>
            <a:pPr marL="314960" marR="4254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operation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converted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dirty="0">
                <a:latin typeface="Tahoma"/>
                <a:cs typeface="Tahoma"/>
              </a:rPr>
              <a:t>list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steps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interface </a:t>
            </a:r>
            <a:r>
              <a:rPr sz="1100" spc="-60" dirty="0">
                <a:latin typeface="Tahoma"/>
                <a:cs typeface="Tahoma"/>
              </a:rPr>
              <a:t>draws </a:t>
            </a:r>
            <a:r>
              <a:rPr sz="1100" spc="-45" dirty="0">
                <a:latin typeface="Tahoma"/>
                <a:cs typeface="Tahoma"/>
              </a:rPr>
              <a:t>one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one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Local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Storage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storage </a:t>
            </a:r>
            <a:r>
              <a:rPr sz="1100" spc="-10" dirty="0">
                <a:latin typeface="Tahoma"/>
                <a:cs typeface="Tahoma"/>
              </a:rPr>
              <a:t>layer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Modules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communicate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through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300" y="3052748"/>
            <a:ext cx="5018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dirty="0">
                <a:solidFill>
                  <a:srgbClr val="133768"/>
                </a:solidFill>
                <a:latin typeface="Arial"/>
                <a:cs typeface="Arial"/>
              </a:rPr>
              <a:t>Department</a:t>
            </a:r>
            <a:r>
              <a:rPr sz="600" spc="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33768"/>
                </a:solidFill>
                <a:latin typeface="Arial"/>
                <a:cs typeface="Arial"/>
              </a:rPr>
              <a:t>of</a:t>
            </a:r>
            <a:r>
              <a:rPr sz="600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33768"/>
                </a:solidFill>
                <a:latin typeface="Arial"/>
                <a:cs typeface="Arial"/>
              </a:rPr>
              <a:t>Computer</a:t>
            </a:r>
            <a:r>
              <a:rPr sz="600" spc="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33768"/>
                </a:solidFill>
                <a:latin typeface="Arial"/>
                <a:cs typeface="Arial"/>
              </a:rPr>
              <a:t>Science</a:t>
            </a:r>
            <a:r>
              <a:rPr sz="600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spc="80" dirty="0">
                <a:solidFill>
                  <a:srgbClr val="133768"/>
                </a:solidFill>
                <a:latin typeface="Arial"/>
                <a:cs typeface="Arial"/>
              </a:rPr>
              <a:t>&amp;</a:t>
            </a:r>
            <a:r>
              <a:rPr sz="600" spc="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33768"/>
                </a:solidFill>
                <a:latin typeface="Arial"/>
                <a:cs typeface="Arial"/>
              </a:rPr>
              <a:t>Engineering</a:t>
            </a:r>
            <a:r>
              <a:rPr sz="600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33768"/>
                </a:solidFill>
                <a:latin typeface="Arial"/>
                <a:cs typeface="Arial"/>
              </a:rPr>
              <a:t>—</a:t>
            </a:r>
            <a:r>
              <a:rPr sz="600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33768"/>
                </a:solidFill>
                <a:latin typeface="Arial"/>
                <a:cs typeface="Arial"/>
              </a:rPr>
              <a:t>Graphic</a:t>
            </a:r>
            <a:r>
              <a:rPr sz="600" spc="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33768"/>
                </a:solidFill>
                <a:latin typeface="Arial"/>
                <a:cs typeface="Arial"/>
              </a:rPr>
              <a:t>Era</a:t>
            </a:r>
            <a:r>
              <a:rPr sz="600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33768"/>
                </a:solidFill>
                <a:latin typeface="Arial"/>
                <a:cs typeface="Arial"/>
              </a:rPr>
              <a:t>(Deemed</a:t>
            </a:r>
            <a:r>
              <a:rPr sz="600" spc="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33768"/>
                </a:solidFill>
                <a:latin typeface="Arial"/>
                <a:cs typeface="Arial"/>
              </a:rPr>
              <a:t>to</a:t>
            </a:r>
            <a:r>
              <a:rPr sz="600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33768"/>
                </a:solidFill>
                <a:latin typeface="Arial"/>
                <a:cs typeface="Arial"/>
              </a:rPr>
              <a:t>be</a:t>
            </a:r>
            <a:r>
              <a:rPr sz="600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33768"/>
                </a:solidFill>
                <a:latin typeface="Arial"/>
                <a:cs typeface="Arial"/>
              </a:rPr>
              <a:t>University)</a:t>
            </a:r>
            <a:r>
              <a:rPr sz="600" spc="26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650" spc="-30" baseline="2525" dirty="0">
                <a:latin typeface="Tahoma"/>
                <a:cs typeface="Tahoma"/>
              </a:rPr>
              <a:t>JavaScript</a:t>
            </a:r>
            <a:r>
              <a:rPr sz="1650" spc="-22" baseline="2525" dirty="0">
                <a:latin typeface="Tahoma"/>
                <a:cs typeface="Tahoma"/>
              </a:rPr>
              <a:t> </a:t>
            </a:r>
            <a:r>
              <a:rPr sz="1650" spc="-44" baseline="2525" dirty="0">
                <a:latin typeface="Tahoma"/>
                <a:cs typeface="Tahoma"/>
              </a:rPr>
              <a:t>functions</a:t>
            </a:r>
            <a:r>
              <a:rPr sz="1650" spc="-22" baseline="2525" dirty="0">
                <a:latin typeface="Tahoma"/>
                <a:cs typeface="Tahoma"/>
              </a:rPr>
              <a:t> </a:t>
            </a:r>
            <a:r>
              <a:rPr sz="1650" spc="-52" baseline="2525" dirty="0">
                <a:latin typeface="Tahoma"/>
                <a:cs typeface="Tahoma"/>
              </a:rPr>
              <a:t>and</a:t>
            </a:r>
            <a:r>
              <a:rPr sz="1650" spc="-15" baseline="2525" dirty="0">
                <a:latin typeface="Tahoma"/>
                <a:cs typeface="Tahoma"/>
              </a:rPr>
              <a:t> shared</a:t>
            </a:r>
            <a:endParaRPr sz="1650" baseline="2525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78113" y="3115378"/>
            <a:ext cx="1873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0E294E"/>
                </a:solidFill>
                <a:latin typeface="Arial"/>
                <a:cs typeface="Arial"/>
              </a:rPr>
              <a:t>5/15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6379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Module</a:t>
            </a:r>
            <a:r>
              <a:rPr spc="114" dirty="0"/>
              <a:t> </a:t>
            </a:r>
            <a:r>
              <a:rPr dirty="0"/>
              <a:t>Design</a:t>
            </a:r>
            <a:r>
              <a:rPr spc="120" dirty="0"/>
              <a:t> </a:t>
            </a:r>
            <a:r>
              <a:rPr spc="135" dirty="0"/>
              <a:t>&amp;</a:t>
            </a:r>
            <a:r>
              <a:rPr spc="120" dirty="0"/>
              <a:t> </a:t>
            </a:r>
            <a:r>
              <a:rPr dirty="0"/>
              <a:t>Functional</a:t>
            </a:r>
            <a:r>
              <a:rPr spc="12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913419"/>
            <a:ext cx="2377440" cy="12477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33768"/>
                </a:solidFill>
                <a:latin typeface="Gill Sans MT"/>
                <a:cs typeface="Gill Sans MT"/>
              </a:rPr>
              <a:t>Major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Modules</a:t>
            </a:r>
            <a:endParaRPr sz="1100">
              <a:latin typeface="Gill Sans MT"/>
              <a:cs typeface="Gill Sans MT"/>
            </a:endParaRPr>
          </a:p>
          <a:p>
            <a:pPr marL="2901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dirty="0">
                <a:latin typeface="Tahoma"/>
                <a:cs typeface="Tahoma"/>
              </a:rPr>
              <a:t>UI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Topic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Navigation</a:t>
            </a:r>
            <a:endParaRPr sz="1100">
              <a:latin typeface="Tahoma"/>
              <a:cs typeface="Tahoma"/>
            </a:endParaRPr>
          </a:p>
          <a:p>
            <a:pPr marL="289560" marR="5080" indent="-177165">
              <a:lnSpc>
                <a:spcPct val="102600"/>
              </a:lnSpc>
              <a:spcBef>
                <a:spcPts val="2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Module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(concepts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 </a:t>
            </a:r>
            <a:r>
              <a:rPr sz="1100" spc="-25" dirty="0">
                <a:latin typeface="Tahoma"/>
                <a:cs typeface="Tahoma"/>
              </a:rPr>
              <a:t>C++ </a:t>
            </a:r>
            <a:r>
              <a:rPr sz="1100" spc="-10" dirty="0">
                <a:latin typeface="Tahoma"/>
                <a:cs typeface="Tahoma"/>
              </a:rPr>
              <a:t>examples)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20" dirty="0">
                <a:latin typeface="Tahoma"/>
                <a:cs typeface="Tahoma"/>
              </a:rPr>
              <a:t>Visualization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Module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10" dirty="0">
                <a:latin typeface="Tahoma"/>
                <a:cs typeface="Tahoma"/>
              </a:rPr>
              <a:t>Practice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Progress</a:t>
            </a:r>
            <a:r>
              <a:rPr sz="1100" spc="-10" dirty="0">
                <a:latin typeface="Tahoma"/>
                <a:cs typeface="Tahoma"/>
              </a:rPr>
              <a:t> Module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2717" y="913419"/>
            <a:ext cx="2470150" cy="14198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133768"/>
                </a:solidFill>
                <a:latin typeface="Gill Sans MT"/>
                <a:cs typeface="Gill Sans MT"/>
              </a:rPr>
              <a:t>Functional</a:t>
            </a:r>
            <a:r>
              <a:rPr sz="1100" b="1" spc="1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Requirements</a:t>
            </a:r>
            <a:endParaRPr sz="1100">
              <a:latin typeface="Gill Sans MT"/>
              <a:cs typeface="Gill Sans MT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Select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DSA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topic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operation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50" dirty="0">
                <a:latin typeface="Tahoma"/>
                <a:cs typeface="Tahoma"/>
              </a:rPr>
              <a:t>Show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C++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code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50" dirty="0">
                <a:latin typeface="Tahoma"/>
                <a:cs typeface="Tahoma"/>
              </a:rPr>
              <a:t>Show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each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step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next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previous </a:t>
            </a:r>
            <a:r>
              <a:rPr sz="1100" spc="-10" dirty="0">
                <a:latin typeface="Tahoma"/>
                <a:cs typeface="Tahoma"/>
              </a:rPr>
              <a:t>controls</a:t>
            </a:r>
            <a:endParaRPr sz="1100">
              <a:latin typeface="Tahoma"/>
              <a:cs typeface="Tahoma"/>
            </a:endParaRPr>
          </a:p>
          <a:p>
            <a:pPr marL="314960" marR="495934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Filter</a:t>
            </a:r>
            <a:r>
              <a:rPr sz="1100" spc="-40" dirty="0">
                <a:latin typeface="Tahoma"/>
                <a:cs typeface="Tahoma"/>
              </a:rPr>
              <a:t> questions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topic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and </a:t>
            </a:r>
            <a:r>
              <a:rPr sz="1100" spc="-20" dirty="0">
                <a:latin typeface="Tahoma"/>
                <a:cs typeface="Tahoma"/>
              </a:rPr>
              <a:t>difficulty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save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progress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9181" y="2418956"/>
            <a:ext cx="5142230" cy="594995"/>
          </a:xfrm>
          <a:custGeom>
            <a:avLst/>
            <a:gdLst/>
            <a:ahLst/>
            <a:cxnLst/>
            <a:rect l="l" t="t" r="r" b="b"/>
            <a:pathLst>
              <a:path w="5142230" h="594994">
                <a:moveTo>
                  <a:pt x="5141671" y="229997"/>
                </a:moveTo>
                <a:lnTo>
                  <a:pt x="0" y="229997"/>
                </a:lnTo>
                <a:lnTo>
                  <a:pt x="0" y="544156"/>
                </a:lnTo>
                <a:lnTo>
                  <a:pt x="4013" y="563892"/>
                </a:lnTo>
                <a:lnTo>
                  <a:pt x="14922" y="580047"/>
                </a:lnTo>
                <a:lnTo>
                  <a:pt x="31076" y="590956"/>
                </a:lnTo>
                <a:lnTo>
                  <a:pt x="50800" y="594969"/>
                </a:lnTo>
                <a:lnTo>
                  <a:pt x="5090871" y="594969"/>
                </a:lnTo>
                <a:lnTo>
                  <a:pt x="5110594" y="590956"/>
                </a:lnTo>
                <a:lnTo>
                  <a:pt x="5126748" y="580047"/>
                </a:lnTo>
                <a:lnTo>
                  <a:pt x="5137658" y="563892"/>
                </a:lnTo>
                <a:lnTo>
                  <a:pt x="5141671" y="544156"/>
                </a:lnTo>
                <a:lnTo>
                  <a:pt x="5141671" y="229997"/>
                </a:lnTo>
                <a:close/>
              </a:path>
              <a:path w="5142230" h="594994">
                <a:moveTo>
                  <a:pt x="5141671" y="50800"/>
                </a:moveTo>
                <a:lnTo>
                  <a:pt x="5137658" y="31076"/>
                </a:lnTo>
                <a:lnTo>
                  <a:pt x="5126748" y="14922"/>
                </a:lnTo>
                <a:lnTo>
                  <a:pt x="5110594" y="4013"/>
                </a:lnTo>
                <a:lnTo>
                  <a:pt x="5090871" y="0"/>
                </a:lnTo>
                <a:lnTo>
                  <a:pt x="50800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0" y="50800"/>
                </a:lnTo>
                <a:lnTo>
                  <a:pt x="0" y="198374"/>
                </a:lnTo>
                <a:lnTo>
                  <a:pt x="5141671" y="198374"/>
                </a:lnTo>
                <a:lnTo>
                  <a:pt x="5141671" y="5080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2355151"/>
            <a:ext cx="4816475" cy="6280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Module</a:t>
            </a:r>
            <a:r>
              <a:rPr sz="1200" spc="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Dependency</a:t>
            </a:r>
            <a:endParaRPr sz="1200">
              <a:latin typeface="Gill Sans MT"/>
              <a:cs typeface="Gill Sans MT"/>
            </a:endParaRPr>
          </a:p>
          <a:p>
            <a:pPr marL="12700" marR="5080">
              <a:lnSpc>
                <a:spcPct val="102600"/>
              </a:lnSpc>
              <a:spcBef>
                <a:spcPts val="26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calls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Learning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Visualization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modules;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Practice</a:t>
            </a:r>
            <a:r>
              <a:rPr sz="1100" spc="-35" dirty="0">
                <a:latin typeface="Tahoma"/>
                <a:cs typeface="Tahoma"/>
              </a:rPr>
              <a:t> module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topic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writes</a:t>
            </a:r>
            <a:r>
              <a:rPr sz="1100" spc="-35" dirty="0">
                <a:latin typeface="Tahoma"/>
                <a:cs typeface="Tahoma"/>
              </a:rPr>
              <a:t> results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Local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Storage.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Technology</a:t>
            </a:r>
            <a:r>
              <a:rPr spc="60" dirty="0"/>
              <a:t> </a:t>
            </a:r>
            <a:r>
              <a:rPr dirty="0"/>
              <a:t>Stack</a:t>
            </a:r>
            <a:r>
              <a:rPr spc="65" dirty="0"/>
              <a:t> </a:t>
            </a:r>
            <a:r>
              <a:rPr spc="135" dirty="0"/>
              <a:t>&amp;</a:t>
            </a:r>
            <a:r>
              <a:rPr spc="60" dirty="0"/>
              <a:t> </a:t>
            </a:r>
            <a:r>
              <a:rPr spc="-10" dirty="0"/>
              <a:t>Development</a:t>
            </a:r>
            <a:r>
              <a:rPr spc="6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10624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085250"/>
            <a:ext cx="11207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Technology</a:t>
            </a:r>
            <a:r>
              <a:rPr sz="1200" spc="-3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Stack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30016" y="110624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68117" y="1085250"/>
            <a:ext cx="16878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133768"/>
                </a:solidFill>
                <a:latin typeface="Gill Sans MT"/>
                <a:cs typeface="Gill Sans MT"/>
              </a:rPr>
              <a:t>Development</a:t>
            </a:r>
            <a:r>
              <a:rPr sz="1200" spc="1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Methodology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9193" y="1336226"/>
            <a:ext cx="2520950" cy="1342390"/>
          </a:xfrm>
          <a:custGeom>
            <a:avLst/>
            <a:gdLst/>
            <a:ahLst/>
            <a:cxnLst/>
            <a:rect l="l" t="t" r="r" b="b"/>
            <a:pathLst>
              <a:path w="2520950" h="1342389">
                <a:moveTo>
                  <a:pt x="2520810" y="0"/>
                </a:moveTo>
                <a:lnTo>
                  <a:pt x="0" y="0"/>
                </a:lnTo>
                <a:lnTo>
                  <a:pt x="0" y="1291162"/>
                </a:lnTo>
                <a:lnTo>
                  <a:pt x="4008" y="1310887"/>
                </a:lnTo>
                <a:lnTo>
                  <a:pt x="14922" y="1327040"/>
                </a:lnTo>
                <a:lnTo>
                  <a:pt x="31075" y="1337954"/>
                </a:lnTo>
                <a:lnTo>
                  <a:pt x="50800" y="1341962"/>
                </a:lnTo>
                <a:lnTo>
                  <a:pt x="2470010" y="1341962"/>
                </a:lnTo>
                <a:lnTo>
                  <a:pt x="2489735" y="1337954"/>
                </a:lnTo>
                <a:lnTo>
                  <a:pt x="2505888" y="1327040"/>
                </a:lnTo>
                <a:lnTo>
                  <a:pt x="2516802" y="1310887"/>
                </a:lnTo>
                <a:lnTo>
                  <a:pt x="2520810" y="1291162"/>
                </a:lnTo>
                <a:lnTo>
                  <a:pt x="25208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1957" y="1314219"/>
            <a:ext cx="2258695" cy="13258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56515" indent="-177165">
              <a:lnSpc>
                <a:spcPct val="102600"/>
              </a:lnSpc>
              <a:spcBef>
                <a:spcPts val="55"/>
              </a:spcBef>
              <a:buClr>
                <a:srgbClr val="133768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35" dirty="0">
                <a:latin typeface="Tahoma"/>
                <a:cs typeface="Tahoma"/>
              </a:rPr>
              <a:t>Programming:</a:t>
            </a:r>
            <a:r>
              <a:rPr sz="1100" spc="1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C++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(examples)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/ </a:t>
            </a:r>
            <a:r>
              <a:rPr sz="1100" spc="-10" dirty="0">
                <a:latin typeface="Tahoma"/>
                <a:cs typeface="Tahoma"/>
              </a:rPr>
              <a:t>JavaScript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45" dirty="0">
                <a:latin typeface="Tahoma"/>
                <a:cs typeface="Tahoma"/>
              </a:rPr>
              <a:t>Interface:</a:t>
            </a:r>
            <a:r>
              <a:rPr sz="1100" spc="1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HTML,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CSS,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JavaScript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Storage: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Local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Storage</a:t>
            </a:r>
            <a:endParaRPr sz="1100">
              <a:latin typeface="Tahoma"/>
              <a:cs typeface="Tahoma"/>
            </a:endParaRPr>
          </a:p>
          <a:p>
            <a:pPr marL="214629" marR="250825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5" dirty="0">
                <a:latin typeface="Tahoma"/>
                <a:cs typeface="Tahoma"/>
              </a:rPr>
              <a:t>Development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Tool: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VS</a:t>
            </a:r>
            <a:r>
              <a:rPr sz="1100" spc="-20" dirty="0">
                <a:latin typeface="Tahoma"/>
                <a:cs typeface="Tahoma"/>
              </a:rPr>
              <a:t> Code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/ </a:t>
            </a:r>
            <a:r>
              <a:rPr sz="1100" spc="-10" dirty="0">
                <a:latin typeface="Tahoma"/>
                <a:cs typeface="Tahoma"/>
              </a:rPr>
              <a:t>Browser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Version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Control: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GitHub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336237"/>
            <a:ext cx="2520950" cy="982980"/>
          </a:xfrm>
          <a:custGeom>
            <a:avLst/>
            <a:gdLst/>
            <a:ahLst/>
            <a:cxnLst/>
            <a:rect l="l" t="t" r="r" b="b"/>
            <a:pathLst>
              <a:path w="2520950" h="982980">
                <a:moveTo>
                  <a:pt x="2520810" y="0"/>
                </a:moveTo>
                <a:lnTo>
                  <a:pt x="0" y="0"/>
                </a:lnTo>
                <a:lnTo>
                  <a:pt x="0" y="931614"/>
                </a:lnTo>
                <a:lnTo>
                  <a:pt x="4008" y="951339"/>
                </a:lnTo>
                <a:lnTo>
                  <a:pt x="14922" y="967492"/>
                </a:lnTo>
                <a:lnTo>
                  <a:pt x="31075" y="978406"/>
                </a:lnTo>
                <a:lnTo>
                  <a:pt x="50800" y="982414"/>
                </a:lnTo>
                <a:lnTo>
                  <a:pt x="2470010" y="982414"/>
                </a:lnTo>
                <a:lnTo>
                  <a:pt x="2489735" y="978406"/>
                </a:lnTo>
                <a:lnTo>
                  <a:pt x="2505888" y="967492"/>
                </a:lnTo>
                <a:lnTo>
                  <a:pt x="2516802" y="951339"/>
                </a:lnTo>
                <a:lnTo>
                  <a:pt x="2520810" y="931614"/>
                </a:lnTo>
                <a:lnTo>
                  <a:pt x="25208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68180" y="1275408"/>
            <a:ext cx="1443990" cy="10128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45" dirty="0">
                <a:latin typeface="Tahoma"/>
                <a:cs typeface="Tahoma"/>
              </a:rPr>
              <a:t>Requirement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30" dirty="0">
                <a:latin typeface="Tahoma"/>
                <a:cs typeface="Tahoma"/>
              </a:rPr>
              <a:t>System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Design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10" dirty="0">
                <a:latin typeface="Tahoma"/>
                <a:cs typeface="Tahoma"/>
              </a:rPr>
              <a:t>Module</a:t>
            </a:r>
            <a:r>
              <a:rPr sz="1100" spc="-35" dirty="0">
                <a:latin typeface="Tahoma"/>
                <a:cs typeface="Tahoma"/>
              </a:rPr>
              <a:t> Development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10" dirty="0"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30" dirty="0">
                <a:latin typeface="Tahoma"/>
                <a:cs typeface="Tahoma"/>
              </a:rPr>
              <a:t>Testing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Validation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4144" y="2782594"/>
            <a:ext cx="49701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solidFill>
                  <a:srgbClr val="595959"/>
                </a:solidFill>
                <a:latin typeface="Arial"/>
                <a:cs typeface="Arial"/>
              </a:rPr>
              <a:t>These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"/>
                <a:cs typeface="Arial"/>
              </a:rPr>
              <a:t>technologies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simple,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595959"/>
                </a:solidFill>
                <a:latin typeface="Arial"/>
                <a:cs typeface="Arial"/>
              </a:rPr>
              <a:t>accessible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suitable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interactive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595959"/>
                </a:solidFill>
                <a:latin typeface="Arial"/>
                <a:cs typeface="Arial"/>
              </a:rPr>
              <a:t>browser-</a:t>
            </a:r>
            <a:r>
              <a:rPr sz="800" spc="-25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z="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platform.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Implementation</a:t>
            </a:r>
            <a:r>
              <a:rPr spc="90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PBL</a:t>
            </a:r>
            <a:r>
              <a:rPr spc="95" dirty="0"/>
              <a:t> </a:t>
            </a:r>
            <a:r>
              <a:rPr spc="-25" dirty="0"/>
              <a:t>Course</a:t>
            </a:r>
            <a:r>
              <a:rPr spc="9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781" y="1182369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8081" y="1219185"/>
            <a:ext cx="341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30" dirty="0">
                <a:latin typeface="Gill Sans MT"/>
                <a:cs typeface="Gill Sans MT"/>
              </a:rPr>
              <a:t>Course</a:t>
            </a:r>
            <a:endParaRPr sz="8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891" y="1219185"/>
            <a:ext cx="1448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Arial"/>
                <a:cs typeface="Arial"/>
              </a:rPr>
              <a:t>Concepts</a:t>
            </a:r>
            <a:r>
              <a:rPr sz="800" spc="6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Actually</a:t>
            </a:r>
            <a:r>
              <a:rPr sz="800" spc="6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Implemented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2697" y="1219185"/>
            <a:ext cx="7188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Project</a:t>
            </a:r>
            <a:r>
              <a:rPr sz="800" spc="7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0781" y="140628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8081" y="1441016"/>
            <a:ext cx="99504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Gill Sans MT"/>
                <a:cs typeface="Gill Sans MT"/>
              </a:rPr>
              <a:t>Data</a:t>
            </a:r>
            <a:r>
              <a:rPr sz="800" b="1" spc="35" dirty="0">
                <a:latin typeface="Gill Sans MT"/>
                <a:cs typeface="Gill Sans MT"/>
              </a:rPr>
              <a:t> </a:t>
            </a:r>
            <a:r>
              <a:rPr sz="800" b="1" spc="-20" dirty="0">
                <a:latin typeface="Gill Sans MT"/>
                <a:cs typeface="Gill Sans MT"/>
              </a:rPr>
              <a:t>Structures</a:t>
            </a:r>
            <a:r>
              <a:rPr sz="800" b="1" spc="35" dirty="0">
                <a:latin typeface="Gill Sans MT"/>
                <a:cs typeface="Gill Sans MT"/>
              </a:rPr>
              <a:t> </a:t>
            </a:r>
            <a:r>
              <a:rPr sz="800" b="1" dirty="0">
                <a:latin typeface="Gill Sans MT"/>
                <a:cs typeface="Gill Sans MT"/>
              </a:rPr>
              <a:t>in</a:t>
            </a:r>
            <a:r>
              <a:rPr sz="800" b="1" spc="35" dirty="0">
                <a:latin typeface="Gill Sans MT"/>
                <a:cs typeface="Gill Sans MT"/>
              </a:rPr>
              <a:t> </a:t>
            </a:r>
            <a:r>
              <a:rPr sz="800" b="1" spc="-50" dirty="0">
                <a:latin typeface="Gill Sans MT"/>
                <a:cs typeface="Gill Sans MT"/>
              </a:rPr>
              <a:t>C</a:t>
            </a:r>
            <a:endParaRPr sz="8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861" y="1441016"/>
            <a:ext cx="2256790" cy="5378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"/>
                <a:cs typeface="Arial"/>
              </a:rPr>
              <a:t>Arrays,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Linked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Lists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(nodes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pointers),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Stacks </a:t>
            </a:r>
            <a:r>
              <a:rPr sz="800" dirty="0">
                <a:latin typeface="Arial"/>
                <a:cs typeface="Arial"/>
              </a:rPr>
              <a:t>(push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pop),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Queues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(enqueue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dequeue)</a:t>
            </a:r>
            <a:endParaRPr sz="800">
              <a:latin typeface="Arial"/>
              <a:cs typeface="Arial"/>
            </a:endParaRPr>
          </a:p>
          <a:p>
            <a:pPr marL="12700" marR="5715" indent="-635">
              <a:lnSpc>
                <a:spcPts val="950"/>
              </a:lnSpc>
              <a:spcBef>
                <a:spcPts val="229"/>
              </a:spcBef>
            </a:pPr>
            <a:r>
              <a:rPr sz="800" dirty="0">
                <a:latin typeface="Arial"/>
                <a:cs typeface="Arial"/>
              </a:rPr>
              <a:t>HTML, </a:t>
            </a:r>
            <a:r>
              <a:rPr sz="800" spc="-25" dirty="0">
                <a:latin typeface="Arial"/>
                <a:cs typeface="Arial"/>
              </a:rPr>
              <a:t>CSS, </a:t>
            </a:r>
            <a:r>
              <a:rPr sz="800" dirty="0">
                <a:latin typeface="Arial"/>
                <a:cs typeface="Arial"/>
              </a:rPr>
              <a:t>JavaScript, DOM manipulation, </a:t>
            </a:r>
            <a:r>
              <a:rPr sz="800" spc="-25" dirty="0">
                <a:latin typeface="Arial"/>
                <a:cs typeface="Arial"/>
              </a:rPr>
              <a:t>Lo-</a:t>
            </a:r>
            <a:r>
              <a:rPr sz="800" dirty="0">
                <a:latin typeface="Arial"/>
                <a:cs typeface="Arial"/>
              </a:rPr>
              <a:t>cal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Storage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62514" y="1441016"/>
            <a:ext cx="1113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Visualization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100" dirty="0">
                <a:latin typeface="Arial"/>
                <a:cs typeface="Arial"/>
              </a:rPr>
              <a:t>&amp;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Practice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8081" y="1711476"/>
            <a:ext cx="8832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35" dirty="0">
                <a:latin typeface="Gill Sans MT"/>
                <a:cs typeface="Gill Sans MT"/>
              </a:rPr>
              <a:t>Web</a:t>
            </a:r>
            <a:r>
              <a:rPr sz="800" b="1" spc="-20" dirty="0">
                <a:latin typeface="Gill Sans MT"/>
                <a:cs typeface="Gill Sans MT"/>
              </a:rPr>
              <a:t> </a:t>
            </a:r>
            <a:r>
              <a:rPr sz="800" b="1" spc="-25" dirty="0">
                <a:latin typeface="Gill Sans MT"/>
                <a:cs typeface="Gill Sans MT"/>
              </a:rPr>
              <a:t>Development</a:t>
            </a:r>
            <a:endParaRPr sz="800">
              <a:latin typeface="Gill Sans MT"/>
              <a:cs typeface="Gill Sans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2514" y="1711476"/>
            <a:ext cx="124968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"/>
                <a:cs typeface="Arial"/>
              </a:rPr>
              <a:t>Learning</a:t>
            </a:r>
            <a:r>
              <a:rPr sz="800" spc="459" dirty="0">
                <a:latin typeface="Arial"/>
                <a:cs typeface="Arial"/>
              </a:rPr>
              <a:t> </a:t>
            </a:r>
            <a:r>
              <a:rPr sz="800" spc="100" dirty="0">
                <a:latin typeface="Arial"/>
                <a:cs typeface="Arial"/>
              </a:rPr>
              <a:t>&amp;</a:t>
            </a:r>
            <a:r>
              <a:rPr sz="800" spc="459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Visualization Interface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0781" y="2020836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6501" y="2415349"/>
            <a:ext cx="4547235" cy="286385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11430" rIns="0" bIns="0" rtlCol="0">
            <a:spAutoFit/>
          </a:bodyPr>
          <a:lstStyle/>
          <a:p>
            <a:pPr marL="1964689" marR="71120" indent="-1850389">
              <a:lnSpc>
                <a:spcPts val="950"/>
              </a:lnSpc>
              <a:spcBef>
                <a:spcPts val="90"/>
              </a:spcBef>
            </a:pPr>
            <a:r>
              <a:rPr sz="800" b="1" spc="-10" dirty="0">
                <a:latin typeface="Gill Sans MT"/>
                <a:cs typeface="Gill Sans MT"/>
              </a:rPr>
              <a:t>Integration:</a:t>
            </a:r>
            <a:r>
              <a:rPr sz="800" b="1" spc="95" dirty="0">
                <a:latin typeface="Gill Sans MT"/>
                <a:cs typeface="Gill Sans MT"/>
              </a:rPr>
              <a:t> </a:t>
            </a:r>
            <a:r>
              <a:rPr sz="800" dirty="0">
                <a:latin typeface="Arial"/>
                <a:cs typeface="Arial"/>
              </a:rPr>
              <a:t>DSA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operations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drive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what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web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interface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draws,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so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both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subjects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work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together </a:t>
            </a:r>
            <a:r>
              <a:rPr sz="800" dirty="0">
                <a:latin typeface="Arial"/>
                <a:cs typeface="Arial"/>
              </a:rPr>
              <a:t>in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b="1" dirty="0">
                <a:latin typeface="Gill Sans MT"/>
                <a:cs typeface="Gill Sans MT"/>
              </a:rPr>
              <a:t>one</a:t>
            </a:r>
            <a:r>
              <a:rPr sz="800" b="1" spc="25" dirty="0">
                <a:latin typeface="Gill Sans MT"/>
                <a:cs typeface="Gill Sans MT"/>
              </a:rPr>
              <a:t> </a:t>
            </a:r>
            <a:r>
              <a:rPr sz="800" spc="-10" dirty="0">
                <a:latin typeface="Arial"/>
                <a:cs typeface="Arial"/>
              </a:rPr>
              <a:t>project.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302841"/>
            <a:ext cx="34918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133768"/>
                </a:solidFill>
                <a:latin typeface="Gill Sans MT"/>
                <a:cs typeface="Gill Sans MT"/>
              </a:rPr>
              <a:t>Development</a:t>
            </a:r>
            <a:r>
              <a:rPr sz="1400" b="1" spc="2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400" b="1" spc="135" dirty="0">
                <a:solidFill>
                  <a:srgbClr val="133768"/>
                </a:solidFill>
                <a:latin typeface="Gill Sans MT"/>
                <a:cs typeface="Gill Sans MT"/>
              </a:rPr>
              <a:t>&amp;</a:t>
            </a:r>
            <a:r>
              <a:rPr sz="1400" b="1" spc="2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400" b="1" spc="-10" dirty="0">
                <a:solidFill>
                  <a:srgbClr val="133768"/>
                </a:solidFill>
                <a:latin typeface="Gill Sans MT"/>
                <a:cs typeface="Gill Sans MT"/>
              </a:rPr>
              <a:t>Implementation</a:t>
            </a:r>
            <a:r>
              <a:rPr sz="1400" b="1" spc="2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400" b="1" spc="-10" dirty="0">
                <a:solidFill>
                  <a:srgbClr val="133768"/>
                </a:solidFill>
                <a:latin typeface="Gill Sans MT"/>
                <a:cs typeface="Gill Sans MT"/>
              </a:rPr>
              <a:t>Progress</a:t>
            </a:r>
            <a:endParaRPr sz="1400">
              <a:latin typeface="Gill Sans MT"/>
              <a:cs typeface="Gill Sans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0781" y="1124242"/>
          <a:ext cx="4838700" cy="113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10" dirty="0">
                          <a:latin typeface="Gill Sans MT"/>
                          <a:cs typeface="Gill Sans MT"/>
                        </a:rPr>
                        <a:t>Module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10" dirty="0">
                          <a:latin typeface="Gill Sans MT"/>
                          <a:cs typeface="Gill Sans MT"/>
                        </a:rPr>
                        <a:t>Status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55" dirty="0">
                          <a:latin typeface="Gill Sans MT"/>
                          <a:cs typeface="Gill Sans MT"/>
                        </a:rPr>
                        <a:t>Work</a:t>
                      </a:r>
                      <a:r>
                        <a:rPr sz="800" b="1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spc="-10" dirty="0">
                          <a:latin typeface="Gill Sans MT"/>
                          <a:cs typeface="Gill Sans MT"/>
                        </a:rPr>
                        <a:t>Completed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UI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Topic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Navigation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Website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layout and navigation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between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topics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Learning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Module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Concept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notes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14" dirty="0">
                          <a:latin typeface="Arial"/>
                          <a:cs typeface="Arial"/>
                        </a:rPr>
                        <a:t>C++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examples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topics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Visualization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Module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955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Progress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 indent="-635">
                        <a:lnSpc>
                          <a:spcPts val="950"/>
                        </a:lnSpc>
                        <a:spcBef>
                          <a:spcPts val="35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Step-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by-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step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display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basic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operations;</a:t>
                      </a:r>
                      <a:r>
                        <a:rPr sz="8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linked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list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work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continuing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Practice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Progress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Module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Pending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 indent="-635">
                        <a:lnSpc>
                          <a:spcPts val="95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Question set and Local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Storage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design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prepared;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imple-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mentation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planned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86129" y="2617139"/>
            <a:ext cx="3388360" cy="172085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12065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95"/>
              </a:spcBef>
            </a:pPr>
            <a:r>
              <a:rPr sz="800" b="1" spc="-25" dirty="0">
                <a:latin typeface="Gill Sans MT"/>
                <a:cs typeface="Gill Sans MT"/>
              </a:rPr>
              <a:t>Overall</a:t>
            </a:r>
            <a:r>
              <a:rPr sz="800" b="1" spc="25" dirty="0">
                <a:latin typeface="Gill Sans MT"/>
                <a:cs typeface="Gill Sans MT"/>
              </a:rPr>
              <a:t> </a:t>
            </a:r>
            <a:r>
              <a:rPr sz="800" b="1" spc="-10" dirty="0">
                <a:latin typeface="Gill Sans MT"/>
                <a:cs typeface="Gill Sans MT"/>
              </a:rPr>
              <a:t>Project</a:t>
            </a:r>
            <a:r>
              <a:rPr sz="800" b="1" spc="20" dirty="0">
                <a:latin typeface="Gill Sans MT"/>
                <a:cs typeface="Gill Sans MT"/>
              </a:rPr>
              <a:t> </a:t>
            </a:r>
            <a:r>
              <a:rPr sz="800" b="1" spc="-20" dirty="0">
                <a:latin typeface="Gill Sans MT"/>
                <a:cs typeface="Gill Sans MT"/>
              </a:rPr>
              <a:t>Completion:</a:t>
            </a:r>
            <a:r>
              <a:rPr sz="800" b="1" spc="100" dirty="0">
                <a:latin typeface="Gill Sans MT"/>
                <a:cs typeface="Gill Sans MT"/>
              </a:rPr>
              <a:t> </a:t>
            </a:r>
            <a:r>
              <a:rPr sz="800" spc="-25" dirty="0">
                <a:latin typeface="Arial"/>
                <a:cs typeface="Arial"/>
              </a:rPr>
              <a:t>40%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>
                <a:solidFill>
                  <a:srgbClr val="133769"/>
                </a:solidFill>
              </a:rPr>
              <a:t>Working</a:t>
            </a:r>
            <a:r>
              <a:rPr spc="40" dirty="0">
                <a:solidFill>
                  <a:srgbClr val="133769"/>
                </a:solidFill>
              </a:rPr>
              <a:t> </a:t>
            </a:r>
            <a:r>
              <a:rPr dirty="0">
                <a:solidFill>
                  <a:srgbClr val="133769"/>
                </a:solidFill>
              </a:rPr>
              <a:t>Prototype</a:t>
            </a:r>
            <a:r>
              <a:rPr spc="45" dirty="0">
                <a:solidFill>
                  <a:srgbClr val="133769"/>
                </a:solidFill>
              </a:rPr>
              <a:t> </a:t>
            </a:r>
            <a:r>
              <a:rPr spc="395" dirty="0">
                <a:solidFill>
                  <a:srgbClr val="133769"/>
                </a:solidFill>
              </a:rPr>
              <a:t>/</a:t>
            </a:r>
            <a:r>
              <a:rPr spc="45" dirty="0">
                <a:solidFill>
                  <a:srgbClr val="133769"/>
                </a:solidFill>
              </a:rPr>
              <a:t> </a:t>
            </a:r>
            <a:r>
              <a:rPr spc="-20" dirty="0">
                <a:solidFill>
                  <a:srgbClr val="133769"/>
                </a:solidFill>
              </a:rPr>
              <a:t>Demonstration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1894" y="1197746"/>
            <a:ext cx="2178685" cy="14198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40" dirty="0">
                <a:solidFill>
                  <a:srgbClr val="133769"/>
                </a:solidFill>
                <a:latin typeface="Gill Sans MT"/>
                <a:cs typeface="Gill Sans MT"/>
              </a:rPr>
              <a:t>Implemented</a:t>
            </a:r>
            <a:r>
              <a:rPr sz="1100" b="1" spc="45" dirty="0">
                <a:solidFill>
                  <a:srgbClr val="133769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9"/>
                </a:solidFill>
                <a:latin typeface="Gill Sans MT"/>
                <a:cs typeface="Gill Sans MT"/>
              </a:rPr>
              <a:t>Features</a:t>
            </a:r>
            <a:endParaRPr sz="1100">
              <a:latin typeface="Gill Sans MT"/>
              <a:cs typeface="Gill Sans MT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9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Topic</a:t>
            </a:r>
            <a:r>
              <a:rPr sz="1100" spc="-35" dirty="0">
                <a:latin typeface="Tahoma"/>
                <a:cs typeface="Tahoma"/>
              </a:rPr>
              <a:t> selection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navigation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295"/>
              </a:spcBef>
              <a:buClr>
                <a:srgbClr val="133769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Concept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explanation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C++ </a:t>
            </a:r>
            <a:r>
              <a:rPr sz="1100" spc="-10" dirty="0">
                <a:latin typeface="Tahoma"/>
                <a:cs typeface="Tahoma"/>
              </a:rPr>
              <a:t>examples</a:t>
            </a:r>
            <a:endParaRPr sz="1100">
              <a:latin typeface="Tahoma"/>
              <a:cs typeface="Tahoma"/>
            </a:endParaRPr>
          </a:p>
          <a:p>
            <a:pPr marL="314960" marR="224790" indent="-177165">
              <a:lnSpc>
                <a:spcPct val="102600"/>
              </a:lnSpc>
              <a:spcBef>
                <a:spcPts val="300"/>
              </a:spcBef>
              <a:buClr>
                <a:srgbClr val="133769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45" dirty="0">
                <a:latin typeface="Tahoma"/>
                <a:cs typeface="Tahoma"/>
              </a:rPr>
              <a:t>Step-</a:t>
            </a:r>
            <a:r>
              <a:rPr sz="1100" spc="-60" dirty="0">
                <a:latin typeface="Tahoma"/>
                <a:cs typeface="Tahoma"/>
              </a:rPr>
              <a:t>by-</a:t>
            </a:r>
            <a:r>
              <a:rPr sz="1100" spc="-35" dirty="0">
                <a:latin typeface="Tahoma"/>
                <a:cs typeface="Tahoma"/>
              </a:rPr>
              <a:t>step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visualization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operations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9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Practice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questions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progress)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8822" y="1385176"/>
            <a:ext cx="2672080" cy="215265"/>
          </a:xfrm>
          <a:custGeom>
            <a:avLst/>
            <a:gdLst/>
            <a:ahLst/>
            <a:cxnLst/>
            <a:rect l="l" t="t" r="r" b="b"/>
            <a:pathLst>
              <a:path w="2672079" h="215265">
                <a:moveTo>
                  <a:pt x="262120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9"/>
                </a:lnTo>
                <a:lnTo>
                  <a:pt x="2672003" y="215239"/>
                </a:lnTo>
                <a:lnTo>
                  <a:pt x="2672003" y="50800"/>
                </a:lnTo>
                <a:lnTo>
                  <a:pt x="2667995" y="31075"/>
                </a:lnTo>
                <a:lnTo>
                  <a:pt x="2657081" y="14922"/>
                </a:lnTo>
                <a:lnTo>
                  <a:pt x="2640928" y="4008"/>
                </a:lnTo>
                <a:lnTo>
                  <a:pt x="2621203" y="0"/>
                </a:lnTo>
                <a:close/>
              </a:path>
            </a:pathLst>
          </a:custGeom>
          <a:solidFill>
            <a:srgbClr val="EDF4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16923" y="1372616"/>
            <a:ext cx="1256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9"/>
                </a:solidFill>
                <a:latin typeface="Gill Sans MT"/>
                <a:cs typeface="Gill Sans MT"/>
              </a:rPr>
              <a:t>Prototype</a:t>
            </a:r>
            <a:r>
              <a:rPr sz="1200" spc="-10" dirty="0">
                <a:solidFill>
                  <a:srgbClr val="133769"/>
                </a:solidFill>
                <a:latin typeface="Gill Sans MT"/>
                <a:cs typeface="Gill Sans MT"/>
              </a:rPr>
              <a:t> </a:t>
            </a:r>
            <a:r>
              <a:rPr sz="1200" spc="245" dirty="0">
                <a:solidFill>
                  <a:srgbClr val="133769"/>
                </a:solidFill>
                <a:latin typeface="Gill Sans MT"/>
                <a:cs typeface="Gill Sans MT"/>
              </a:rPr>
              <a:t>/</a:t>
            </a:r>
            <a:r>
              <a:rPr sz="1200" spc="-10" dirty="0">
                <a:solidFill>
                  <a:srgbClr val="133769"/>
                </a:solidFill>
                <a:latin typeface="Gill Sans MT"/>
                <a:cs typeface="Gill Sans MT"/>
              </a:rPr>
              <a:t> Output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78822" y="1632026"/>
            <a:ext cx="2672080" cy="948690"/>
          </a:xfrm>
          <a:custGeom>
            <a:avLst/>
            <a:gdLst/>
            <a:ahLst/>
            <a:cxnLst/>
            <a:rect l="l" t="t" r="r" b="b"/>
            <a:pathLst>
              <a:path w="2672079" h="948689">
                <a:moveTo>
                  <a:pt x="2672003" y="0"/>
                </a:moveTo>
                <a:lnTo>
                  <a:pt x="0" y="0"/>
                </a:lnTo>
                <a:lnTo>
                  <a:pt x="0" y="897864"/>
                </a:lnTo>
                <a:lnTo>
                  <a:pt x="4008" y="917589"/>
                </a:lnTo>
                <a:lnTo>
                  <a:pt x="14922" y="933742"/>
                </a:lnTo>
                <a:lnTo>
                  <a:pt x="31075" y="944656"/>
                </a:lnTo>
                <a:lnTo>
                  <a:pt x="50800" y="948664"/>
                </a:lnTo>
                <a:lnTo>
                  <a:pt x="2621203" y="948664"/>
                </a:lnTo>
                <a:lnTo>
                  <a:pt x="2640928" y="944656"/>
                </a:lnTo>
                <a:lnTo>
                  <a:pt x="2657081" y="933742"/>
                </a:lnTo>
                <a:lnTo>
                  <a:pt x="2667995" y="917589"/>
                </a:lnTo>
                <a:lnTo>
                  <a:pt x="2672003" y="897864"/>
                </a:lnTo>
                <a:lnTo>
                  <a:pt x="2672003" y="0"/>
                </a:lnTo>
                <a:close/>
              </a:path>
            </a:pathLst>
          </a:custGeom>
          <a:solidFill>
            <a:srgbClr val="EDF4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87001" y="1898014"/>
            <a:ext cx="165544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1605" marR="5080" indent="-129539">
              <a:lnSpc>
                <a:spcPct val="102600"/>
              </a:lnSpc>
              <a:spcBef>
                <a:spcPts val="55"/>
              </a:spcBef>
            </a:pPr>
            <a:r>
              <a:rPr sz="1100" spc="-55" dirty="0">
                <a:latin typeface="Tahoma"/>
                <a:cs typeface="Tahoma"/>
              </a:rPr>
              <a:t>Insert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screenshot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/ </a:t>
            </a:r>
            <a:r>
              <a:rPr sz="1100" spc="-40" dirty="0">
                <a:latin typeface="Tahoma"/>
                <a:cs typeface="Tahoma"/>
              </a:rPr>
              <a:t>prototype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evidence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here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8882" y="1611853"/>
            <a:ext cx="2418574" cy="123258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133769"/>
                </a:solidFill>
              </a:rPr>
              <a:t>Testing,</a:t>
            </a:r>
            <a:r>
              <a:rPr spc="105" dirty="0">
                <a:solidFill>
                  <a:srgbClr val="133769"/>
                </a:solidFill>
              </a:rPr>
              <a:t> </a:t>
            </a:r>
            <a:r>
              <a:rPr dirty="0">
                <a:solidFill>
                  <a:srgbClr val="133769"/>
                </a:solidFill>
              </a:rPr>
              <a:t>Results</a:t>
            </a:r>
            <a:r>
              <a:rPr spc="110" dirty="0">
                <a:solidFill>
                  <a:srgbClr val="133769"/>
                </a:solidFill>
              </a:rPr>
              <a:t> </a:t>
            </a:r>
            <a:r>
              <a:rPr spc="135" dirty="0">
                <a:solidFill>
                  <a:srgbClr val="133769"/>
                </a:solidFill>
              </a:rPr>
              <a:t>&amp;</a:t>
            </a:r>
            <a:r>
              <a:rPr spc="110" dirty="0">
                <a:solidFill>
                  <a:srgbClr val="133769"/>
                </a:solidFill>
              </a:rPr>
              <a:t> </a:t>
            </a:r>
            <a:r>
              <a:rPr spc="-10" dirty="0">
                <a:solidFill>
                  <a:srgbClr val="133769"/>
                </a:solidFill>
              </a:rPr>
              <a:t>Validation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781" y="97053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8081" y="978090"/>
            <a:ext cx="6788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Test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9873" y="978090"/>
            <a:ext cx="750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Expected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Result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1113" y="978090"/>
            <a:ext cx="7543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Observed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Result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02454" y="978090"/>
            <a:ext cx="3111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Status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0781" y="1148956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8081" y="1148816"/>
            <a:ext cx="7702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Topic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navigation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9902" y="1148816"/>
            <a:ext cx="115506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"/>
                <a:cs typeface="Arial"/>
              </a:rPr>
              <a:t>Every</a:t>
            </a:r>
            <a:r>
              <a:rPr sz="800" spc="2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topic</a:t>
            </a:r>
            <a:r>
              <a:rPr sz="800" spc="2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page</a:t>
            </a:r>
            <a:r>
              <a:rPr sz="800" spc="204" dirty="0">
                <a:latin typeface="Arial"/>
                <a:cs typeface="Arial"/>
              </a:rPr>
              <a:t> </a:t>
            </a:r>
            <a:r>
              <a:rPr sz="800" spc="-45" dirty="0">
                <a:latin typeface="Arial"/>
                <a:cs typeface="Arial"/>
              </a:rPr>
              <a:t>opens</a:t>
            </a:r>
            <a:r>
              <a:rPr sz="800" spc="-10" dirty="0">
                <a:latin typeface="Arial"/>
                <a:cs typeface="Arial"/>
              </a:rPr>
              <a:t> correctly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21215" y="1148816"/>
            <a:ext cx="1155065" cy="18980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"/>
                <a:cs typeface="Arial"/>
              </a:rPr>
              <a:t>All</a:t>
            </a:r>
            <a:r>
              <a:rPr sz="800" spc="8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3</a:t>
            </a:r>
            <a:r>
              <a:rPr sz="800" spc="8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tabs</a:t>
            </a:r>
            <a:r>
              <a:rPr sz="800" spc="8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correctly</a:t>
            </a:r>
            <a:r>
              <a:rPr sz="800" spc="85" dirty="0">
                <a:latin typeface="Arial"/>
                <a:cs typeface="Arial"/>
              </a:rPr>
              <a:t> </a:t>
            </a:r>
            <a:r>
              <a:rPr sz="800" spc="-45" dirty="0">
                <a:latin typeface="Arial"/>
                <a:cs typeface="Arial"/>
              </a:rPr>
              <a:t>show</a:t>
            </a:r>
            <a:r>
              <a:rPr sz="800" dirty="0">
                <a:latin typeface="Arial"/>
                <a:cs typeface="Arial"/>
              </a:rPr>
              <a:t> their</a:t>
            </a:r>
            <a:r>
              <a:rPr sz="800" spc="215" dirty="0">
                <a:latin typeface="Arial"/>
                <a:cs typeface="Arial"/>
              </a:rPr>
              <a:t>  </a:t>
            </a:r>
            <a:r>
              <a:rPr sz="800" dirty="0">
                <a:latin typeface="Arial"/>
                <a:cs typeface="Arial"/>
              </a:rPr>
              <a:t>panel</a:t>
            </a:r>
            <a:r>
              <a:rPr sz="800" spc="220" dirty="0">
                <a:latin typeface="Arial"/>
                <a:cs typeface="Arial"/>
              </a:rPr>
              <a:t> 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215" dirty="0">
                <a:latin typeface="Arial"/>
                <a:cs typeface="Arial"/>
              </a:rPr>
              <a:t>  </a:t>
            </a:r>
            <a:r>
              <a:rPr sz="800" spc="-10" dirty="0">
                <a:latin typeface="Arial"/>
                <a:cs typeface="Arial"/>
              </a:rPr>
              <a:t>click. </a:t>
            </a:r>
            <a:r>
              <a:rPr sz="800" dirty="0">
                <a:latin typeface="Arial"/>
                <a:cs typeface="Arial"/>
              </a:rPr>
              <a:t>Stack</a:t>
            </a:r>
            <a:r>
              <a:rPr sz="800" spc="2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loads</a:t>
            </a:r>
            <a:r>
              <a:rPr sz="800" spc="254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by</a:t>
            </a:r>
            <a:r>
              <a:rPr sz="800" spc="2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default. </a:t>
            </a:r>
            <a:r>
              <a:rPr sz="800" dirty="0">
                <a:latin typeface="Arial"/>
                <a:cs typeface="Arial"/>
              </a:rPr>
              <a:t>Active</a:t>
            </a:r>
            <a:r>
              <a:rPr sz="800" spc="325" dirty="0">
                <a:latin typeface="Arial"/>
                <a:cs typeface="Arial"/>
              </a:rPr>
              <a:t>  </a:t>
            </a:r>
            <a:r>
              <a:rPr sz="800" dirty="0">
                <a:latin typeface="Arial"/>
                <a:cs typeface="Arial"/>
              </a:rPr>
              <a:t>tab</a:t>
            </a:r>
            <a:r>
              <a:rPr sz="800" spc="325" dirty="0">
                <a:latin typeface="Arial"/>
                <a:cs typeface="Arial"/>
              </a:rPr>
              <a:t>  </a:t>
            </a:r>
            <a:r>
              <a:rPr sz="800" spc="-10" dirty="0">
                <a:latin typeface="Arial"/>
                <a:cs typeface="Arial"/>
              </a:rPr>
              <a:t>highlights purple.</a:t>
            </a:r>
            <a:endParaRPr sz="800" dirty="0">
              <a:latin typeface="Arial"/>
              <a:cs typeface="Arial"/>
            </a:endParaRPr>
          </a:p>
          <a:p>
            <a:pPr marL="12700" algn="just">
              <a:lnSpc>
                <a:spcPts val="775"/>
              </a:lnSpc>
            </a:pPr>
            <a:r>
              <a:rPr sz="800" dirty="0">
                <a:latin typeface="Arial"/>
                <a:cs typeface="Arial"/>
              </a:rPr>
              <a:t>Push</a:t>
            </a:r>
            <a:r>
              <a:rPr sz="800" spc="17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adds</a:t>
            </a:r>
            <a:r>
              <a:rPr sz="800" spc="17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block</a:t>
            </a:r>
            <a:r>
              <a:rPr sz="800" spc="17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17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top</a:t>
            </a:r>
            <a:endParaRPr sz="800" dirty="0">
              <a:latin typeface="Arial"/>
              <a:cs typeface="Arial"/>
            </a:endParaRPr>
          </a:p>
          <a:p>
            <a:pPr marL="12700" marR="5080" algn="just">
              <a:lnSpc>
                <a:spcPts val="950"/>
              </a:lnSpc>
              <a:spcBef>
                <a:spcPts val="35"/>
              </a:spcBef>
            </a:pPr>
            <a:r>
              <a:rPr sz="800" dirty="0">
                <a:latin typeface="Arial"/>
                <a:cs typeface="Arial"/>
              </a:rPr>
              <a:t>(red highlight).</a:t>
            </a:r>
            <a:r>
              <a:rPr sz="800" spc="459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Pop </a:t>
            </a:r>
            <a:r>
              <a:rPr sz="800" spc="-25" dirty="0">
                <a:latin typeface="Arial"/>
                <a:cs typeface="Arial"/>
              </a:rPr>
              <a:t>re-</a:t>
            </a:r>
            <a:r>
              <a:rPr sz="800" spc="-10" dirty="0">
                <a:latin typeface="Arial"/>
                <a:cs typeface="Arial"/>
              </a:rPr>
              <a:t>moves </a:t>
            </a:r>
            <a:r>
              <a:rPr sz="800" dirty="0">
                <a:latin typeface="Arial"/>
                <a:cs typeface="Arial"/>
              </a:rPr>
              <a:t>it.Log updates </a:t>
            </a:r>
            <a:r>
              <a:rPr sz="800" spc="-25" dirty="0">
                <a:latin typeface="Arial"/>
                <a:cs typeface="Arial"/>
              </a:rPr>
              <a:t>af-</a:t>
            </a:r>
            <a:r>
              <a:rPr sz="800" dirty="0">
                <a:latin typeface="Arial"/>
                <a:cs typeface="Arial"/>
              </a:rPr>
              <a:t>ter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each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step.</a:t>
            </a:r>
            <a:endParaRPr sz="800" dirty="0">
              <a:latin typeface="Arial"/>
              <a:cs typeface="Arial"/>
            </a:endParaRPr>
          </a:p>
          <a:p>
            <a:pPr marL="12700" algn="just">
              <a:lnSpc>
                <a:spcPts val="780"/>
              </a:lnSpc>
            </a:pPr>
            <a:r>
              <a:rPr sz="800" dirty="0">
                <a:latin typeface="Arial"/>
                <a:cs typeface="Arial"/>
              </a:rPr>
              <a:t>Insert</a:t>
            </a:r>
            <a:r>
              <a:rPr sz="800" spc="365" dirty="0">
                <a:latin typeface="Arial"/>
                <a:cs typeface="Arial"/>
              </a:rPr>
              <a:t>  </a:t>
            </a:r>
            <a:r>
              <a:rPr sz="800" dirty="0">
                <a:latin typeface="Arial"/>
                <a:cs typeface="Arial"/>
              </a:rPr>
              <a:t>Front/End</a:t>
            </a:r>
            <a:r>
              <a:rPr sz="800" spc="370" dirty="0">
                <a:latin typeface="Arial"/>
                <a:cs typeface="Arial"/>
              </a:rPr>
              <a:t>  </a:t>
            </a:r>
            <a:r>
              <a:rPr sz="800" spc="-25" dirty="0">
                <a:latin typeface="Arial"/>
                <a:cs typeface="Arial"/>
              </a:rPr>
              <a:t>re-</a:t>
            </a:r>
            <a:endParaRPr sz="800" dirty="0">
              <a:latin typeface="Arial"/>
              <a:cs typeface="Arial"/>
            </a:endParaRPr>
          </a:p>
          <a:p>
            <a:pPr marL="12700" marR="5080" algn="just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Arial"/>
                <a:cs typeface="Arial"/>
              </a:rPr>
              <a:t>renders</a:t>
            </a:r>
            <a:r>
              <a:rPr sz="800" spc="3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nodes</a:t>
            </a:r>
            <a:r>
              <a:rPr sz="800" spc="3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with</a:t>
            </a:r>
            <a:r>
              <a:rPr sz="800" spc="33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→</a:t>
            </a:r>
            <a:r>
              <a:rPr sz="800" dirty="0">
                <a:latin typeface="Arial"/>
                <a:cs typeface="Arial"/>
              </a:rPr>
              <a:t> arrows</a:t>
            </a:r>
            <a:r>
              <a:rPr sz="800" spc="4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4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NULL</a:t>
            </a:r>
            <a:r>
              <a:rPr sz="800" spc="42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tail </a:t>
            </a:r>
            <a:r>
              <a:rPr lang="en-US" sz="800" spc="-10" dirty="0">
                <a:latin typeface="Arial"/>
                <a:cs typeface="Arial"/>
              </a:rPr>
              <a:t>correctly</a:t>
            </a:r>
            <a:endParaRPr sz="800" dirty="0">
              <a:latin typeface="Arial"/>
              <a:cs typeface="Arial"/>
            </a:endParaRPr>
          </a:p>
          <a:p>
            <a:pPr marL="12700" algn="just">
              <a:lnSpc>
                <a:spcPts val="735"/>
              </a:lnSpc>
            </a:pPr>
            <a:r>
              <a:rPr sz="800" dirty="0">
                <a:latin typeface="Arial"/>
                <a:cs typeface="Arial"/>
              </a:rPr>
              <a:t>No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localStorage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found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in</a:t>
            </a:r>
            <a:endParaRPr sz="800" dirty="0">
              <a:latin typeface="Arial"/>
              <a:cs typeface="Arial"/>
            </a:endParaRPr>
          </a:p>
          <a:p>
            <a:pPr marL="12700" marR="5080" algn="just">
              <a:lnSpc>
                <a:spcPts val="950"/>
              </a:lnSpc>
              <a:spcBef>
                <a:spcPts val="35"/>
              </a:spcBef>
            </a:pPr>
            <a:r>
              <a:rPr sz="800" dirty="0">
                <a:latin typeface="Arial"/>
                <a:cs typeface="Arial"/>
              </a:rPr>
              <a:t>code.</a:t>
            </a:r>
            <a:r>
              <a:rPr sz="800" spc="3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data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resets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to</a:t>
            </a:r>
            <a:r>
              <a:rPr sz="800" dirty="0">
                <a:latin typeface="Arial"/>
                <a:cs typeface="Arial"/>
              </a:rPr>
              <a:t> empty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reload.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2518" y="1148816"/>
            <a:ext cx="2254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Pass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5410" y="1805354"/>
            <a:ext cx="813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Stack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push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pop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9861" y="1793923"/>
            <a:ext cx="115506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"/>
                <a:cs typeface="Arial"/>
              </a:rPr>
              <a:t>Each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step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shows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20" dirty="0">
                <a:latin typeface="Arial"/>
                <a:cs typeface="Arial"/>
              </a:rPr>
              <a:t> cor-</a:t>
            </a:r>
            <a:r>
              <a:rPr sz="800" dirty="0">
                <a:latin typeface="Arial"/>
                <a:cs typeface="Arial"/>
              </a:rPr>
              <a:t>rect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stack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state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02518" y="1787924"/>
            <a:ext cx="2254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Pass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081" y="2268726"/>
            <a:ext cx="11563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Linked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list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insert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delete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39861" y="2254463"/>
            <a:ext cx="115506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 algn="just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"/>
                <a:cs typeface="Arial"/>
              </a:rPr>
              <a:t>Nodes and pointers </a:t>
            </a:r>
            <a:r>
              <a:rPr sz="800" spc="-25" dirty="0">
                <a:latin typeface="Arial"/>
                <a:cs typeface="Arial"/>
              </a:rPr>
              <a:t>up-</a:t>
            </a:r>
            <a:r>
              <a:rPr sz="800" dirty="0">
                <a:latin typeface="Arial"/>
                <a:cs typeface="Arial"/>
              </a:rPr>
              <a:t>date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correctly</a:t>
            </a:r>
            <a:r>
              <a:rPr sz="800" spc="4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at</a:t>
            </a:r>
            <a:r>
              <a:rPr sz="800" spc="445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each</a:t>
            </a:r>
            <a:r>
              <a:rPr sz="800" spc="-20" dirty="0">
                <a:latin typeface="Arial"/>
                <a:cs typeface="Arial"/>
              </a:rPr>
              <a:t> step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02518" y="2261404"/>
            <a:ext cx="2254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Pass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5374" y="2726041"/>
            <a:ext cx="641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Local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Storage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39861" y="2726041"/>
            <a:ext cx="115506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"/>
                <a:cs typeface="Arial"/>
              </a:rPr>
              <a:t>Saved</a:t>
            </a:r>
            <a:r>
              <a:rPr sz="800" spc="20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progress</a:t>
            </a:r>
            <a:r>
              <a:rPr sz="800" spc="204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remains</a:t>
            </a:r>
            <a:r>
              <a:rPr sz="800" dirty="0">
                <a:latin typeface="Arial"/>
                <a:cs typeface="Arial"/>
              </a:rPr>
              <a:t> after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page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reload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34585" y="2715086"/>
            <a:ext cx="1612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Arial"/>
                <a:cs typeface="Arial"/>
              </a:rPr>
              <a:t>fail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8081" y="313076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GitHub</a:t>
            </a:r>
            <a:r>
              <a:rPr spc="35" dirty="0"/>
              <a:t> </a:t>
            </a:r>
            <a:r>
              <a:rPr spc="-10" dirty="0"/>
              <a:t>Repository</a:t>
            </a:r>
            <a:r>
              <a:rPr spc="35" dirty="0"/>
              <a:t> </a:t>
            </a:r>
            <a:r>
              <a:rPr spc="135" dirty="0"/>
              <a:t>&amp;</a:t>
            </a:r>
            <a:r>
              <a:rPr spc="35" dirty="0"/>
              <a:t> </a:t>
            </a:r>
            <a:r>
              <a:rPr spc="-10" dirty="0"/>
              <a:t>Development</a:t>
            </a:r>
            <a:r>
              <a:rPr spc="35" dirty="0"/>
              <a:t> </a:t>
            </a:r>
            <a:r>
              <a:rPr spc="-10" dirty="0"/>
              <a:t>Activity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1894" y="913419"/>
            <a:ext cx="2370455" cy="16300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30" dirty="0">
                <a:solidFill>
                  <a:srgbClr val="133768"/>
                </a:solidFill>
                <a:latin typeface="Gill Sans MT"/>
                <a:cs typeface="Gill Sans MT"/>
              </a:rPr>
              <a:t>Repository</a:t>
            </a:r>
            <a:r>
              <a:rPr sz="1100" b="1" spc="3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Information</a:t>
            </a:r>
            <a:endParaRPr sz="1100">
              <a:latin typeface="Gill Sans MT"/>
              <a:cs typeface="Gill Sans MT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GitHub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Link: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Repository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URL</a:t>
            </a:r>
            <a:endParaRPr sz="1100">
              <a:latin typeface="Tahoma"/>
              <a:cs typeface="Tahoma"/>
            </a:endParaRPr>
          </a:p>
          <a:p>
            <a:pPr marL="314960" marR="222250" indent="-177165">
              <a:lnSpc>
                <a:spcPct val="102600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README.md:</a:t>
            </a:r>
            <a:r>
              <a:rPr sz="1100" spc="1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project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overview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run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Contributors: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four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members</a:t>
            </a:r>
            <a:endParaRPr sz="1100">
              <a:latin typeface="Tahoma"/>
              <a:cs typeface="Tahoma"/>
            </a:endParaRPr>
          </a:p>
          <a:p>
            <a:pPr marL="314960" marR="29591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latin typeface="Tahoma"/>
                <a:cs typeface="Tahoma"/>
              </a:rPr>
              <a:t>Repository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Status: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latest</a:t>
            </a:r>
            <a:r>
              <a:rPr sz="1100" spc="-55" dirty="0">
                <a:latin typeface="Tahoma"/>
                <a:cs typeface="Tahoma"/>
              </a:rPr>
              <a:t> code </a:t>
            </a:r>
            <a:r>
              <a:rPr sz="1100" spc="-10" dirty="0">
                <a:latin typeface="Tahoma"/>
                <a:cs typeface="Tahoma"/>
              </a:rPr>
              <a:t>uploaded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latin typeface="Tahoma"/>
                <a:cs typeface="Tahoma"/>
              </a:rPr>
              <a:t>Branches: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feature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branches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41904" y="913419"/>
            <a:ext cx="2212975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40" dirty="0">
                <a:solidFill>
                  <a:srgbClr val="133768"/>
                </a:solidFill>
                <a:latin typeface="Gill Sans MT"/>
                <a:cs typeface="Gill Sans MT"/>
              </a:rPr>
              <a:t>Development</a:t>
            </a:r>
            <a:r>
              <a:rPr sz="1100" b="1" spc="4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Activity</a:t>
            </a:r>
            <a:endParaRPr sz="1100">
              <a:latin typeface="Gill Sans MT"/>
              <a:cs typeface="Gill Sans MT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40" dirty="0">
                <a:latin typeface="Tahoma"/>
                <a:cs typeface="Tahoma"/>
              </a:rPr>
              <a:t>Regular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commits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maintained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Meaningful</a:t>
            </a:r>
            <a:r>
              <a:rPr sz="1100" spc="-20" dirty="0">
                <a:latin typeface="Tahoma"/>
                <a:cs typeface="Tahoma"/>
              </a:rPr>
              <a:t> commit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messages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5" dirty="0">
                <a:latin typeface="Tahoma"/>
                <a:cs typeface="Tahoma"/>
              </a:rPr>
              <a:t>Individual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contribution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visible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Latest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implementation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uploaded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Documentation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maintained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1344" y="2608541"/>
            <a:ext cx="4557395" cy="371475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0" rIns="0" bIns="0" rtlCol="0">
            <a:spAutoFit/>
          </a:bodyPr>
          <a:lstStyle/>
          <a:p>
            <a:pPr marL="45085" algn="ctr">
              <a:lnSpc>
                <a:spcPts val="1275"/>
              </a:lnSpc>
            </a:pPr>
            <a:r>
              <a:rPr sz="1100" b="1" spc="-30" dirty="0">
                <a:latin typeface="Gill Sans MT"/>
                <a:cs typeface="Gill Sans MT"/>
              </a:rPr>
              <a:t>Requirement:</a:t>
            </a:r>
            <a:r>
              <a:rPr sz="1100" b="1" spc="114" dirty="0">
                <a:latin typeface="Gill Sans MT"/>
                <a:cs typeface="Gill Sans MT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team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members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must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contributors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must </a:t>
            </a:r>
            <a:r>
              <a:rPr sz="1100" b="1" spc="-10" dirty="0">
                <a:latin typeface="Gill Sans MT"/>
                <a:cs typeface="Gill Sans MT"/>
              </a:rPr>
              <a:t>commit</a:t>
            </a:r>
            <a:endParaRPr sz="1100">
              <a:latin typeface="Gill Sans MT"/>
              <a:cs typeface="Gill Sans MT"/>
            </a:endParaRPr>
          </a:p>
          <a:p>
            <a:pPr marL="45720" algn="ctr">
              <a:lnSpc>
                <a:spcPct val="100000"/>
              </a:lnSpc>
              <a:spcBef>
                <a:spcPts val="35"/>
              </a:spcBef>
            </a:pPr>
            <a:r>
              <a:rPr sz="1100" b="1" spc="-20" dirty="0">
                <a:latin typeface="Gill Sans MT"/>
                <a:cs typeface="Gill Sans MT"/>
              </a:rPr>
              <a:t>individually</a:t>
            </a:r>
            <a:r>
              <a:rPr sz="1100" b="1" spc="-5" dirty="0">
                <a:latin typeface="Gill Sans MT"/>
                <a:cs typeface="Gill Sans MT"/>
              </a:rPr>
              <a:t> </a:t>
            </a:r>
            <a:r>
              <a:rPr sz="1100" b="1" dirty="0">
                <a:latin typeface="Gill Sans MT"/>
                <a:cs typeface="Gill Sans MT"/>
              </a:rPr>
              <a:t>using </a:t>
            </a:r>
            <a:r>
              <a:rPr sz="1100" b="1" spc="-20" dirty="0">
                <a:latin typeface="Gill Sans MT"/>
                <a:cs typeface="Gill Sans MT"/>
              </a:rPr>
              <a:t>their</a:t>
            </a:r>
            <a:r>
              <a:rPr sz="1100" b="1" spc="5" dirty="0">
                <a:latin typeface="Gill Sans MT"/>
                <a:cs typeface="Gill Sans MT"/>
              </a:rPr>
              <a:t> </a:t>
            </a:r>
            <a:r>
              <a:rPr sz="1100" b="1" spc="-20" dirty="0">
                <a:latin typeface="Gill Sans MT"/>
                <a:cs typeface="Gill Sans MT"/>
              </a:rPr>
              <a:t>own</a:t>
            </a:r>
            <a:r>
              <a:rPr sz="1100" b="1" spc="-5" dirty="0">
                <a:latin typeface="Gill Sans MT"/>
                <a:cs typeface="Gill Sans MT"/>
              </a:rPr>
              <a:t> </a:t>
            </a:r>
            <a:r>
              <a:rPr sz="1100" b="1" spc="-25" dirty="0">
                <a:latin typeface="Gill Sans MT"/>
                <a:cs typeface="Gill Sans MT"/>
              </a:rPr>
              <a:t>GitHub</a:t>
            </a:r>
            <a:r>
              <a:rPr sz="1100" b="1" dirty="0">
                <a:latin typeface="Gill Sans MT"/>
                <a:cs typeface="Gill Sans MT"/>
              </a:rPr>
              <a:t> </a:t>
            </a:r>
            <a:r>
              <a:rPr sz="1100" b="1" spc="-10" dirty="0">
                <a:latin typeface="Gill Sans MT"/>
                <a:cs typeface="Gill Sans MT"/>
              </a:rPr>
              <a:t>accounts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Individual</a:t>
            </a:r>
            <a:r>
              <a:rPr spc="70" dirty="0"/>
              <a:t> </a:t>
            </a:r>
            <a:r>
              <a:rPr spc="-20" dirty="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0781" y="970533"/>
          <a:ext cx="4836159" cy="1557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3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Member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Role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Technical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Contribution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168910">
                        <a:lnSpc>
                          <a:spcPts val="950"/>
                        </a:lnSpc>
                        <a:spcBef>
                          <a:spcPts val="4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GitHub Commits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Abhishek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Lead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 marR="67945" indent="-635">
                        <a:lnSpc>
                          <a:spcPts val="950"/>
                        </a:lnSpc>
                        <a:spcBef>
                          <a:spcPts val="47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Assign</a:t>
                      </a:r>
                      <a:r>
                        <a:rPr sz="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tasks</a:t>
                      </a:r>
                      <a:r>
                        <a:rPr sz="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,task</a:t>
                      </a:r>
                      <a:r>
                        <a:rPr sz="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coordination,Website</a:t>
                      </a:r>
                      <a:r>
                        <a:rPr sz="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layout,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visualization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HTML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DOM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R="452755">
                        <a:lnSpc>
                          <a:spcPts val="950"/>
                        </a:lnSpc>
                        <a:spcBef>
                          <a:spcPts val="8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Chaitanya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Kharakhwal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Developer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 marR="67945">
                        <a:lnSpc>
                          <a:spcPts val="950"/>
                        </a:lnSpc>
                        <a:spcBef>
                          <a:spcPts val="8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Frontend,C++,manage local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storage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imple-mentation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0" dirty="0">
                          <a:latin typeface="Arial"/>
                          <a:cs typeface="Arial"/>
                        </a:rPr>
                        <a:t>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Arihant</a:t>
                      </a:r>
                      <a:r>
                        <a:rPr sz="8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Rawat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DB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95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Testing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 marR="67945" indent="-635">
                        <a:lnSpc>
                          <a:spcPts val="950"/>
                        </a:lnSpc>
                        <a:spcBef>
                          <a:spcPts val="8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5" dirty="0">
                          <a:latin typeface="Arial"/>
                          <a:cs typeface="Arial"/>
                        </a:rPr>
                        <a:t>cases,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practice question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structure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and Local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Storage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progress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design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Chaitanya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Maithani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marR="180975">
                        <a:lnSpc>
                          <a:spcPts val="950"/>
                        </a:lnSpc>
                        <a:spcBef>
                          <a:spcPts val="80"/>
                        </a:spcBef>
                      </a:pPr>
                      <a:r>
                        <a:rPr sz="800" spc="-30" dirty="0">
                          <a:latin typeface="Arial"/>
                          <a:cs typeface="Arial"/>
                        </a:rPr>
                        <a:t>Developer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Docs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145" dirty="0">
                          <a:latin typeface="Arial"/>
                          <a:cs typeface="Arial"/>
                        </a:rPr>
                        <a:t>/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68580">
                        <a:lnSpc>
                          <a:spcPts val="950"/>
                        </a:lnSpc>
                        <a:spcBef>
                          <a:spcPts val="80"/>
                        </a:spcBef>
                      </a:pPr>
                      <a:r>
                        <a:rPr sz="800" spc="114" dirty="0">
                          <a:latin typeface="Arial"/>
                          <a:cs typeface="Arial"/>
                        </a:rPr>
                        <a:t>C++</a:t>
                      </a:r>
                      <a:r>
                        <a:rPr sz="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examples,</a:t>
                      </a:r>
                      <a:r>
                        <a:rPr sz="8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learning</a:t>
                      </a:r>
                      <a:r>
                        <a:rPr sz="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content,</a:t>
                      </a:r>
                      <a:r>
                        <a:rPr sz="8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website</a:t>
                      </a:r>
                      <a:r>
                        <a:rPr sz="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sup-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port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documentation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09193" y="2770301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294" y="2749318"/>
            <a:ext cx="13138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Individual</a:t>
            </a:r>
            <a:r>
              <a:rPr sz="1200" spc="10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Evaluation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193" y="2989753"/>
            <a:ext cx="5142230" cy="160020"/>
          </a:xfrm>
          <a:custGeom>
            <a:avLst/>
            <a:gdLst/>
            <a:ahLst/>
            <a:cxnLst/>
            <a:rect l="l" t="t" r="r" b="b"/>
            <a:pathLst>
              <a:path w="5142230" h="160019">
                <a:moveTo>
                  <a:pt x="5141666" y="0"/>
                </a:moveTo>
                <a:lnTo>
                  <a:pt x="0" y="0"/>
                </a:lnTo>
                <a:lnTo>
                  <a:pt x="0" y="108906"/>
                </a:lnTo>
                <a:lnTo>
                  <a:pt x="4008" y="128631"/>
                </a:lnTo>
                <a:lnTo>
                  <a:pt x="14922" y="144784"/>
                </a:lnTo>
                <a:lnTo>
                  <a:pt x="31075" y="155698"/>
                </a:lnTo>
                <a:lnTo>
                  <a:pt x="50800" y="159706"/>
                </a:lnTo>
                <a:lnTo>
                  <a:pt x="5090865" y="159706"/>
                </a:lnTo>
                <a:lnTo>
                  <a:pt x="5110590" y="155698"/>
                </a:lnTo>
                <a:lnTo>
                  <a:pt x="5126743" y="144784"/>
                </a:lnTo>
                <a:lnTo>
                  <a:pt x="5137657" y="128631"/>
                </a:lnTo>
                <a:lnTo>
                  <a:pt x="5141666" y="108906"/>
                </a:lnTo>
                <a:lnTo>
                  <a:pt x="5141666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7294" y="2971430"/>
            <a:ext cx="49625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Every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member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should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be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prepared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explain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demonstrate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their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own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technical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contribution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project.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Challenges,</a:t>
            </a:r>
            <a:r>
              <a:rPr spc="90" dirty="0"/>
              <a:t> </a:t>
            </a:r>
            <a:r>
              <a:rPr dirty="0"/>
              <a:t>Remaining</a:t>
            </a:r>
            <a:r>
              <a:rPr spc="95" dirty="0"/>
              <a:t> </a:t>
            </a:r>
            <a:r>
              <a:rPr spc="-65" dirty="0"/>
              <a:t>Work</a:t>
            </a:r>
            <a:r>
              <a:rPr spc="95" dirty="0"/>
              <a:t> </a:t>
            </a:r>
            <a:r>
              <a:rPr spc="135" dirty="0"/>
              <a:t>&amp;</a:t>
            </a:r>
            <a:r>
              <a:rPr spc="95" dirty="0"/>
              <a:t> </a:t>
            </a:r>
            <a:r>
              <a:rPr dirty="0"/>
              <a:t>Phase-III</a:t>
            </a:r>
            <a:r>
              <a:rPr spc="95" dirty="0"/>
              <a:t> </a:t>
            </a:r>
            <a:r>
              <a:rPr spc="-10" dirty="0"/>
              <a:t>Roadmap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pc="-25" dirty="0"/>
              <a:t>Challenges</a:t>
            </a:r>
            <a:r>
              <a:rPr spc="5" dirty="0"/>
              <a:t> </a:t>
            </a:r>
            <a:r>
              <a:rPr spc="-10" dirty="0"/>
              <a:t>Faced</a:t>
            </a:r>
          </a:p>
          <a:p>
            <a:pPr marL="314960" marR="6413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Drawing</a:t>
            </a:r>
            <a:r>
              <a:rPr sz="1100" b="0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25" dirty="0">
                <a:solidFill>
                  <a:srgbClr val="000000"/>
                </a:solidFill>
                <a:latin typeface="Tahoma"/>
                <a:cs typeface="Tahoma"/>
              </a:rPr>
              <a:t>pointer</a:t>
            </a: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35" dirty="0">
                <a:solidFill>
                  <a:srgbClr val="000000"/>
                </a:solidFill>
                <a:latin typeface="Tahoma"/>
                <a:cs typeface="Tahoma"/>
              </a:rPr>
              <a:t>and</a:t>
            </a: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50" dirty="0">
                <a:solidFill>
                  <a:srgbClr val="000000"/>
                </a:solidFill>
                <a:latin typeface="Tahoma"/>
                <a:cs typeface="Tahoma"/>
              </a:rPr>
              <a:t>node</a:t>
            </a:r>
            <a:r>
              <a:rPr sz="1100" b="0" spc="-2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60" dirty="0">
                <a:solidFill>
                  <a:srgbClr val="000000"/>
                </a:solidFill>
                <a:latin typeface="Tahoma"/>
                <a:cs typeface="Tahoma"/>
              </a:rPr>
              <a:t>changes </a:t>
            </a: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in</a:t>
            </a:r>
            <a:r>
              <a:rPr sz="1100" b="0" spc="-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sync</a:t>
            </a:r>
            <a:r>
              <a:rPr sz="1100" b="0" spc="-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with</a:t>
            </a:r>
            <a:r>
              <a:rPr sz="1100" b="0" spc="-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40" dirty="0">
                <a:solidFill>
                  <a:srgbClr val="000000"/>
                </a:solidFill>
                <a:latin typeface="Tahoma"/>
                <a:cs typeface="Tahoma"/>
              </a:rPr>
              <a:t>each</a:t>
            </a:r>
            <a:r>
              <a:rPr sz="1100" b="0" spc="-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20" dirty="0">
                <a:solidFill>
                  <a:srgbClr val="000000"/>
                </a:solidFill>
                <a:latin typeface="Tahoma"/>
                <a:cs typeface="Tahoma"/>
              </a:rPr>
              <a:t>step</a:t>
            </a:r>
            <a:endParaRPr sz="1100">
              <a:latin typeface="Tahoma"/>
              <a:cs typeface="Tahoma"/>
            </a:endParaRPr>
          </a:p>
          <a:p>
            <a:pPr marL="314960" marR="40386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0" spc="-25" dirty="0">
                <a:solidFill>
                  <a:srgbClr val="000000"/>
                </a:solidFill>
                <a:latin typeface="Tahoma"/>
                <a:cs typeface="Tahoma"/>
              </a:rPr>
              <a:t>Going</a:t>
            </a:r>
            <a:r>
              <a:rPr sz="1100" b="0" spc="-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20" dirty="0">
                <a:solidFill>
                  <a:srgbClr val="000000"/>
                </a:solidFill>
                <a:latin typeface="Tahoma"/>
                <a:cs typeface="Tahoma"/>
              </a:rPr>
              <a:t>back</a:t>
            </a:r>
            <a:r>
              <a:rPr sz="1100" b="0" spc="-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to</a:t>
            </a:r>
            <a:r>
              <a:rPr sz="1100" b="0" spc="-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an</a:t>
            </a:r>
            <a:r>
              <a:rPr sz="1100" b="0" spc="-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35" dirty="0">
                <a:solidFill>
                  <a:srgbClr val="000000"/>
                </a:solidFill>
                <a:latin typeface="Tahoma"/>
                <a:cs typeface="Tahoma"/>
              </a:rPr>
              <a:t>earlier</a:t>
            </a:r>
            <a:r>
              <a:rPr sz="1100" b="0" spc="-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45" dirty="0">
                <a:solidFill>
                  <a:srgbClr val="000000"/>
                </a:solidFill>
                <a:latin typeface="Tahoma"/>
                <a:cs typeface="Tahoma"/>
              </a:rPr>
              <a:t>step 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correctly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Saving </a:t>
            </a:r>
            <a:r>
              <a:rPr sz="1100" b="0" spc="-60" dirty="0">
                <a:solidFill>
                  <a:srgbClr val="000000"/>
                </a:solidFill>
                <a:latin typeface="Tahoma"/>
                <a:cs typeface="Tahoma"/>
              </a:rPr>
              <a:t>progress</a:t>
            </a:r>
            <a:r>
              <a:rPr sz="1100" b="0" spc="-20" dirty="0">
                <a:solidFill>
                  <a:srgbClr val="000000"/>
                </a:solidFill>
                <a:latin typeface="Tahoma"/>
                <a:cs typeface="Tahoma"/>
              </a:rPr>
              <a:t> without</a:t>
            </a: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r>
              <a:rPr sz="1100" b="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database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8117" y="913419"/>
            <a:ext cx="2355215" cy="14579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Phase-</a:t>
            </a:r>
            <a:r>
              <a:rPr sz="1100" b="1" dirty="0">
                <a:solidFill>
                  <a:srgbClr val="133768"/>
                </a:solidFill>
                <a:latin typeface="Gill Sans MT"/>
                <a:cs typeface="Gill Sans MT"/>
              </a:rPr>
              <a:t>III</a:t>
            </a:r>
            <a:r>
              <a:rPr sz="1100" b="1" spc="17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Roadmap</a:t>
            </a:r>
            <a:endParaRPr sz="1100">
              <a:latin typeface="Gill Sans MT"/>
              <a:cs typeface="Gill Sans MT"/>
            </a:endParaRPr>
          </a:p>
          <a:p>
            <a:pPr marL="2901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30" dirty="0">
                <a:latin typeface="Tahoma"/>
                <a:cs typeface="Tahoma"/>
              </a:rPr>
              <a:t>Complete</a:t>
            </a:r>
            <a:r>
              <a:rPr sz="1100" spc="-25" dirty="0">
                <a:latin typeface="Tahoma"/>
                <a:cs typeface="Tahoma"/>
              </a:rPr>
              <a:t> linked </a:t>
            </a:r>
            <a:r>
              <a:rPr sz="1100" dirty="0">
                <a:latin typeface="Tahoma"/>
                <a:cs typeface="Tahoma"/>
              </a:rPr>
              <a:t>list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visualization</a:t>
            </a:r>
            <a:endParaRPr sz="1100">
              <a:latin typeface="Tahoma"/>
              <a:cs typeface="Tahoma"/>
            </a:endParaRPr>
          </a:p>
          <a:p>
            <a:pPr marL="289560" marR="292735" indent="-177165">
              <a:lnSpc>
                <a:spcPct val="102600"/>
              </a:lnSpc>
              <a:spcBef>
                <a:spcPts val="2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100" spc="-30" dirty="0">
                <a:latin typeface="Tahoma"/>
                <a:cs typeface="Tahoma"/>
              </a:rPr>
              <a:t>Complete practice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module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and progress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tracking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30" dirty="0">
                <a:latin typeface="Tahoma"/>
                <a:cs typeface="Tahoma"/>
              </a:rPr>
              <a:t>System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spc="-30" dirty="0">
                <a:latin typeface="Tahoma"/>
                <a:cs typeface="Tahoma"/>
              </a:rPr>
              <a:t>Testing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optimization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sz="1100" dirty="0">
                <a:latin typeface="Tahoma"/>
                <a:cs typeface="Tahoma"/>
              </a:rPr>
              <a:t>Final</a:t>
            </a:r>
            <a:r>
              <a:rPr sz="1100" spc="-25" dirty="0">
                <a:latin typeface="Tahoma"/>
                <a:cs typeface="Tahoma"/>
              </a:rPr>
              <a:t> validation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documentation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894" y="2144392"/>
            <a:ext cx="2204720" cy="9874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133768"/>
                </a:solidFill>
                <a:latin typeface="Gill Sans MT"/>
                <a:cs typeface="Gill Sans MT"/>
              </a:rPr>
              <a:t>Solutions</a:t>
            </a:r>
            <a:r>
              <a:rPr sz="1100" b="1" spc="6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285" dirty="0">
                <a:solidFill>
                  <a:srgbClr val="133768"/>
                </a:solidFill>
                <a:latin typeface="Gill Sans MT"/>
                <a:cs typeface="Gill Sans MT"/>
              </a:rPr>
              <a:t>/</a:t>
            </a:r>
            <a:r>
              <a:rPr sz="1100" b="1" spc="6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Gill Sans MT"/>
                <a:cs typeface="Gill Sans MT"/>
              </a:rPr>
              <a:t>Learning</a:t>
            </a:r>
            <a:endParaRPr sz="1100">
              <a:latin typeface="Gill Sans MT"/>
              <a:cs typeface="Gill Sans MT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Store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operation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of </a:t>
            </a:r>
            <a:r>
              <a:rPr sz="1100" spc="-20" dirty="0">
                <a:latin typeface="Tahoma"/>
                <a:cs typeface="Tahoma"/>
              </a:rPr>
              <a:t>state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snapshots</a:t>
            </a:r>
            <a:endParaRPr sz="1100">
              <a:latin typeface="Tahoma"/>
              <a:cs typeface="Tahoma"/>
            </a:endParaRPr>
          </a:p>
          <a:p>
            <a:pPr marL="314960" marR="36195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5" dirty="0">
                <a:latin typeface="Tahoma"/>
                <a:cs typeface="Tahoma"/>
              </a:rPr>
              <a:t>Save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progress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JSON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Local Storage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Expected</a:t>
            </a:r>
            <a:r>
              <a:rPr spc="55" dirty="0"/>
              <a:t> </a:t>
            </a:r>
            <a:r>
              <a:rPr spc="-20" dirty="0"/>
              <a:t>Outcomes</a:t>
            </a:r>
            <a:r>
              <a:rPr spc="60" dirty="0"/>
              <a:t> </a:t>
            </a:r>
            <a:r>
              <a:rPr spc="135" dirty="0"/>
              <a:t>&amp;</a:t>
            </a:r>
            <a:r>
              <a:rPr spc="55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pc="-20" dirty="0"/>
              <a:t>Expected</a:t>
            </a:r>
            <a:r>
              <a:rPr dirty="0"/>
              <a:t> Final</a:t>
            </a:r>
            <a:r>
              <a:rPr spc="5" dirty="0"/>
              <a:t> </a:t>
            </a:r>
            <a:r>
              <a:rPr spc="-10" dirty="0"/>
              <a:t>Outcomes</a:t>
            </a:r>
          </a:p>
          <a:p>
            <a:pPr marL="314960" marR="7493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Complete</a:t>
            </a:r>
            <a:r>
              <a:rPr sz="1100" b="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45" dirty="0">
                <a:solidFill>
                  <a:srgbClr val="000000"/>
                </a:solidFill>
                <a:latin typeface="Tahoma"/>
                <a:cs typeface="Tahoma"/>
              </a:rPr>
              <a:t>working</a:t>
            </a:r>
            <a:r>
              <a:rPr sz="1100" b="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DSA</a:t>
            </a:r>
            <a:r>
              <a:rPr sz="1100" b="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50" dirty="0">
                <a:solidFill>
                  <a:srgbClr val="000000"/>
                </a:solidFill>
                <a:latin typeface="Tahoma"/>
                <a:cs typeface="Tahoma"/>
              </a:rPr>
              <a:t>learning 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platform</a:t>
            </a:r>
            <a:endParaRPr sz="1100">
              <a:latin typeface="Tahoma"/>
              <a:cs typeface="Tahoma"/>
            </a:endParaRPr>
          </a:p>
          <a:p>
            <a:pPr marL="314960" marR="57467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0" spc="-40" dirty="0">
                <a:solidFill>
                  <a:srgbClr val="000000"/>
                </a:solidFill>
                <a:latin typeface="Tahoma"/>
                <a:cs typeface="Tahoma"/>
              </a:rPr>
              <a:t>Interactive</a:t>
            </a:r>
            <a:r>
              <a:rPr sz="1100" b="0" spc="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50" dirty="0">
                <a:solidFill>
                  <a:srgbClr val="000000"/>
                </a:solidFill>
                <a:latin typeface="Tahoma"/>
                <a:cs typeface="Tahoma"/>
              </a:rPr>
              <a:t>step-</a:t>
            </a:r>
            <a:r>
              <a:rPr sz="1100" b="0" spc="-65" dirty="0">
                <a:solidFill>
                  <a:srgbClr val="000000"/>
                </a:solidFill>
                <a:latin typeface="Tahoma"/>
                <a:cs typeface="Tahoma"/>
              </a:rPr>
              <a:t>by-</a:t>
            </a:r>
            <a:r>
              <a:rPr sz="1100" b="0" spc="-45" dirty="0">
                <a:solidFill>
                  <a:srgbClr val="000000"/>
                </a:solidFill>
                <a:latin typeface="Tahoma"/>
                <a:cs typeface="Tahoma"/>
              </a:rPr>
              <a:t>step 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visualizations</a:t>
            </a:r>
            <a:endParaRPr sz="1100">
              <a:latin typeface="Tahoma"/>
              <a:cs typeface="Tahoma"/>
            </a:endParaRPr>
          </a:p>
          <a:p>
            <a:pPr marL="314960" marR="23304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0" spc="-40" dirty="0">
                <a:solidFill>
                  <a:srgbClr val="000000"/>
                </a:solidFill>
                <a:latin typeface="Tahoma"/>
                <a:cs typeface="Tahoma"/>
              </a:rPr>
              <a:t>Topic-</a:t>
            </a: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wise</a:t>
            </a:r>
            <a:r>
              <a:rPr sz="1100" b="0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35" dirty="0">
                <a:solidFill>
                  <a:srgbClr val="000000"/>
                </a:solidFill>
                <a:latin typeface="Tahoma"/>
                <a:cs typeface="Tahoma"/>
              </a:rPr>
              <a:t>and</a:t>
            </a:r>
            <a:r>
              <a:rPr sz="1100" b="0" spc="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difficulty-</a:t>
            </a:r>
            <a:r>
              <a:rPr sz="1100" b="0" spc="-60" dirty="0">
                <a:solidFill>
                  <a:srgbClr val="000000"/>
                </a:solidFill>
                <a:latin typeface="Tahoma"/>
                <a:cs typeface="Tahoma"/>
              </a:rPr>
              <a:t>wise 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practice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Local</a:t>
            </a:r>
            <a:r>
              <a:rPr sz="1100" b="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60" dirty="0">
                <a:solidFill>
                  <a:srgbClr val="000000"/>
                </a:solidFill>
                <a:latin typeface="Tahoma"/>
                <a:cs typeface="Tahoma"/>
              </a:rPr>
              <a:t>progress</a:t>
            </a: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tracking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Better</a:t>
            </a:r>
            <a:r>
              <a:rPr sz="1100"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45" dirty="0">
                <a:solidFill>
                  <a:srgbClr val="000000"/>
                </a:solidFill>
                <a:latin typeface="Tahoma"/>
                <a:cs typeface="Tahoma"/>
              </a:rPr>
              <a:t>understanding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of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DSA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35" dirty="0">
                <a:solidFill>
                  <a:srgbClr val="000000"/>
                </a:solidFill>
                <a:latin typeface="Tahoma"/>
                <a:cs typeface="Tahoma"/>
              </a:rPr>
              <a:t>for 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beginners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10" dirty="0"/>
              <a:t>References</a:t>
            </a:r>
          </a:p>
          <a:p>
            <a:pPr marL="289560" marR="70612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C++</a:t>
            </a:r>
            <a:r>
              <a:rPr b="0" spc="1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35" dirty="0">
                <a:solidFill>
                  <a:srgbClr val="000000"/>
                </a:solidFill>
                <a:latin typeface="Tahoma"/>
                <a:cs typeface="Tahoma"/>
              </a:rPr>
              <a:t>Documentation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(cppreference.com)</a:t>
            </a:r>
          </a:p>
          <a:p>
            <a:pPr marL="2901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b="0" spc="50" dirty="0">
                <a:solidFill>
                  <a:srgbClr val="000000"/>
                </a:solidFill>
                <a:latin typeface="Tahoma"/>
                <a:cs typeface="Tahoma"/>
              </a:rPr>
              <a:t>MDN</a:t>
            </a:r>
            <a:r>
              <a:rPr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Web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ahoma"/>
                <a:cs typeface="Tahoma"/>
              </a:rPr>
              <a:t>Docs</a:t>
            </a: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LeetCode</a:t>
            </a:r>
          </a:p>
          <a:p>
            <a:pPr marL="289560" marR="50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T.</a:t>
            </a:r>
            <a:r>
              <a:rPr b="0" spc="-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H. </a:t>
            </a:r>
            <a:r>
              <a:rPr b="0" spc="-50" dirty="0">
                <a:solidFill>
                  <a:srgbClr val="000000"/>
                </a:solidFill>
                <a:latin typeface="Tahoma"/>
                <a:cs typeface="Tahoma"/>
              </a:rPr>
              <a:t>Cormen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 et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al.,</a:t>
            </a: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i="1" spc="-20" dirty="0">
                <a:solidFill>
                  <a:srgbClr val="000000"/>
                </a:solidFill>
                <a:latin typeface="Arial"/>
                <a:cs typeface="Arial"/>
              </a:rPr>
              <a:t>Introduction </a:t>
            </a:r>
            <a:r>
              <a:rPr b="0" i="1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b="0" i="1" spc="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i="1" spc="-10" dirty="0">
                <a:solidFill>
                  <a:srgbClr val="000000"/>
                </a:solidFill>
                <a:latin typeface="Arial"/>
                <a:cs typeface="Arial"/>
              </a:rPr>
              <a:t>Algorithms</a:t>
            </a: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b="0" dirty="0">
                <a:solidFill>
                  <a:srgbClr val="000000"/>
                </a:solidFill>
                <a:latin typeface="Tahoma"/>
                <a:cs typeface="Tahoma"/>
              </a:rPr>
              <a:t>DSA</a:t>
            </a:r>
            <a:r>
              <a:rPr b="0" spc="10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ahoma"/>
                <a:cs typeface="Tahoma"/>
              </a:rPr>
              <a:t>textbooks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30714" y="2667228"/>
            <a:ext cx="1969770" cy="371475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0" rIns="0" bIns="0" rtlCol="0">
            <a:spAutoFit/>
          </a:bodyPr>
          <a:lstStyle/>
          <a:p>
            <a:pPr marL="46355" algn="ctr">
              <a:lnSpc>
                <a:spcPts val="1275"/>
              </a:lnSpc>
            </a:pPr>
            <a:r>
              <a:rPr sz="1100" b="1" dirty="0">
                <a:solidFill>
                  <a:srgbClr val="FFFFFF"/>
                </a:solidFill>
                <a:latin typeface="Gill Sans MT"/>
                <a:cs typeface="Gill Sans MT"/>
              </a:rPr>
              <a:t>Thank</a:t>
            </a:r>
            <a:r>
              <a:rPr sz="1100" b="1" spc="-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Gill Sans MT"/>
                <a:cs typeface="Gill Sans MT"/>
              </a:rPr>
              <a:t>You</a:t>
            </a:r>
            <a:endParaRPr sz="1100">
              <a:latin typeface="Gill Sans MT"/>
              <a:cs typeface="Gill Sans MT"/>
            </a:endParaRPr>
          </a:p>
          <a:p>
            <a:pPr marL="45720" algn="ctr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15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1286</Words>
  <Application>Microsoft Office PowerPoint</Application>
  <PresentationFormat>Custom</PresentationFormat>
  <Paragraphs>239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Gill Sans MT</vt:lpstr>
      <vt:lpstr>Lucida Sans Unicode</vt:lpstr>
      <vt:lpstr>Tahoma</vt:lpstr>
      <vt:lpstr>Times New Roman</vt:lpstr>
      <vt:lpstr>Trebuchet MS</vt:lpstr>
      <vt:lpstr>Office Theme</vt:lpstr>
      <vt:lpstr>PROJECT-BASED LEARNING</vt:lpstr>
      <vt:lpstr>Team &amp; Mentor Details</vt:lpstr>
      <vt:lpstr>Phase-I Recap &amp; Feedback Incorporated</vt:lpstr>
      <vt:lpstr>Problem Statement &amp; Finalized Objectives</vt:lpstr>
      <vt:lpstr>Updated System Architecture / Workflow</vt:lpstr>
      <vt:lpstr>Module Design &amp; Functional Requirements</vt:lpstr>
      <vt:lpstr>Technology Stack &amp; Development Methodology</vt:lpstr>
      <vt:lpstr>Implementation of PBL Course Concepts</vt:lpstr>
      <vt:lpstr>PowerPoint Presentation</vt:lpstr>
      <vt:lpstr>Working Prototype / Demonstration</vt:lpstr>
      <vt:lpstr>Testing, Results &amp; Validation</vt:lpstr>
      <vt:lpstr>GitHub Repository &amp; Development Activity</vt:lpstr>
      <vt:lpstr>Individual Contribution</vt:lpstr>
      <vt:lpstr>Challenges, Remaining Work &amp; Phase-III Roadmap</vt:lpstr>
      <vt:lpstr>Expected Outcomes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[2mm]Phase-II Evaluation</dc:title>
  <dc:creator>Algo VisionTeam ID: T218</dc:creator>
  <cp:lastModifiedBy>Abhishek</cp:lastModifiedBy>
  <cp:revision>1</cp:revision>
  <dcterms:created xsi:type="dcterms:W3CDTF">2026-10-21T19:47:00Z</dcterms:created>
  <dcterms:modified xsi:type="dcterms:W3CDTF">2026-10-21T19:53:24Z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2026-10-21T00:00:00Z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